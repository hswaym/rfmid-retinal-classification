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097280"/>
            <a:ext cx="1371600"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25880"/>
            <a:ext cx="9966960" cy="2011680"/>
          </a:xfrm>
          <a:prstGeom prst="rect">
            <a:avLst/>
          </a:prstGeom>
          <a:noFill/>
        </p:spPr>
        <p:txBody>
          <a:bodyPr wrap="square">
            <a:spAutoFit/>
          </a:bodyPr>
          <a:lstStyle/>
          <a:p>
            <a:pPr>
              <a:defRPr sz="3000" b="1">
                <a:solidFill>
                  <a:srgbClr val="FFFFFF"/>
                </a:solidFill>
              </a:defRPr>
            </a:pPr>
            <a:r>
              <a:t>Hybrid Quantum-Classical Convolutional Neural Networks for Retinal Disease Severity Grading</a:t>
            </a:r>
          </a:p>
          <a:p>
            <a:pPr>
              <a:spcBef>
                <a:spcPts val="1000"/>
              </a:spcBef>
              <a:defRPr sz="1700">
                <a:solidFill>
                  <a:srgbClr val="0D9488"/>
                </a:solidFill>
              </a:defRPr>
            </a:pPr>
            <a:r>
              <a:t>Empirical Evaluation of Parameterized Quantum Circuits (PQCs) on the APTOS 2019 Benchmark</a:t>
            </a:r>
          </a:p>
        </p:txBody>
      </p:sp>
      <p:sp>
        <p:nvSpPr>
          <p:cNvPr id="5" name="Rounded Rectangle 4"/>
          <p:cNvSpPr/>
          <p:nvPr/>
        </p:nvSpPr>
        <p:spPr>
          <a:xfrm>
            <a:off x="1097280" y="3657600"/>
            <a:ext cx="9966960" cy="2468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794760"/>
            <a:ext cx="9418320" cy="2194560"/>
          </a:xfrm>
          <a:prstGeom prst="rect">
            <a:avLst/>
          </a:prstGeom>
          <a:noFill/>
        </p:spPr>
        <p:txBody>
          <a:bodyPr wrap="square">
            <a:spAutoFit/>
          </a:bodyPr>
          <a:lstStyle/>
          <a:p>
            <a:pPr>
              <a:defRPr sz="1400" b="1">
                <a:solidFill>
                  <a:srgbClr val="0D9488"/>
                </a:solidFill>
              </a:defRPr>
            </a:pPr>
            <a:r>
              <a:t>PROJECT METADATA &amp; TEAM ROSTER</a:t>
            </a:r>
          </a:p>
          <a:p>
            <a:pPr>
              <a:spcBef>
                <a:spcPts val="400"/>
              </a:spcBef>
              <a:defRPr sz="1200">
                <a:solidFill>
                  <a:srgbClr val="FFFFFF"/>
                </a:solidFill>
              </a:defRPr>
            </a:pPr>
            <a:r>
              <a:t>• Project ID / Code: ERI 5 / TY_CSE_10  |  Academic Year: 2026–2027</a:t>
            </a:r>
          </a:p>
          <a:p>
            <a:pPr>
              <a:spcBef>
                <a:spcPts val="300"/>
              </a:spcBef>
              <a:defRPr sz="1200">
                <a:solidFill>
                  <a:srgbClr val="E2E8F0"/>
                </a:solidFill>
              </a:defRPr>
            </a:pPr>
            <a:r>
              <a:t>• Team Lead: Harshwardhan Suryawanshi (Quantum Architecture &amp; Bridge Integration)</a:t>
            </a:r>
          </a:p>
          <a:p>
            <a:pPr>
              <a:spcBef>
                <a:spcPts val="300"/>
              </a:spcBef>
              <a:defRPr sz="1200">
                <a:solidFill>
                  <a:srgbClr val="E2E8F0"/>
                </a:solidFill>
              </a:defRPr>
            </a:pPr>
            <a:r>
              <a:t>• Project Group Members: [Team Member 2 - Baselines &amp; Loss] | [Team Member 3 - Preprocessing] | [Team Member 4 - Compression &amp; Phase 4]</a:t>
            </a:r>
          </a:p>
          <a:p>
            <a:pPr>
              <a:spcBef>
                <a:spcPts val="300"/>
              </a:spcBef>
              <a:defRPr sz="1200">
                <a:solidFill>
                  <a:srgbClr val="E2E8F0"/>
                </a:solidFill>
              </a:defRPr>
            </a:pPr>
            <a:r>
              <a:t>• Project Guide / Mentor: Respective EDI Guide (Mr. Gopal B. Deshmukh)</a:t>
            </a:r>
          </a:p>
          <a:p>
            <a:pPr>
              <a:spcBef>
                <a:spcPts val="600"/>
              </a:spcBef>
              <a:defRPr sz="1100" b="1">
                <a:solidFill>
                  <a:srgbClr val="0D9488"/>
                </a:solidFill>
              </a:defRPr>
            </a:pPr>
            <a:r>
              <a:t>• Verified Checkpoint: 4-Qubit Autoencoder Hybrid (QWK: 0.7693, AUC-ROC: 0.8716) | Commit: 91bd77d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PROJECT BACKGROUND</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Introduction: Diabetic Retinopathy &amp; Clinical Screening</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754880" cy="4572000"/>
          </a:xfrm>
          <a:prstGeom prst="rect">
            <a:avLst/>
          </a:prstGeom>
          <a:noFill/>
        </p:spPr>
        <p:txBody>
          <a:bodyPr wrap="square">
            <a:spAutoFit/>
          </a:bodyPr>
          <a:lstStyle/>
          <a:p>
            <a:pPr>
              <a:defRPr sz="1600" b="1">
                <a:solidFill>
                  <a:srgbClr val="1E3A8A"/>
                </a:solidFill>
              </a:defRPr>
            </a:pPr>
            <a:r>
              <a:t>1. Clinical Background &amp; Pathology</a:t>
            </a:r>
          </a:p>
          <a:p>
            <a:pPr>
              <a:spcBef>
                <a:spcPts val="1000"/>
              </a:spcBef>
              <a:defRPr sz="1200">
                <a:solidFill>
                  <a:srgbClr val="0F172A"/>
                </a:solidFill>
              </a:defRPr>
            </a:pPr>
            <a:r>
              <a:t>• Diabetic Retinopathy (DR): Microvascular complication of diabetes and the leading cause of preventable blindness in working-age adults.</a:t>
            </a:r>
          </a:p>
          <a:p>
            <a:pPr>
              <a:spcBef>
                <a:spcPts val="1000"/>
              </a:spcBef>
              <a:defRPr sz="1200">
                <a:solidFill>
                  <a:srgbClr val="0F172A"/>
                </a:solidFill>
              </a:defRPr>
            </a:pPr>
            <a:r>
              <a:t>• Pathophysiological Progression: Chronic hyperglycemia damages retinal capillary pericytes, causing microaneurysms, fluid leakage (hard exudates), capillary occlusion (cotton wool spots), and abnormal vessel proliferation.</a:t>
            </a:r>
          </a:p>
          <a:p>
            <a:pPr>
              <a:spcBef>
                <a:spcPts val="1000"/>
              </a:spcBef>
              <a:defRPr sz="1200">
                <a:solidFill>
                  <a:srgbClr val="0F172A"/>
                </a:solidFill>
              </a:defRPr>
            </a:pPr>
            <a:r>
              <a:t>• Clinical Urgency: Early detection and timely laser/anti-VEGF intervention prevents 95% of severe vision loss, but manual screening is constrained by a global shortage of retina specialists.</a:t>
            </a:r>
          </a:p>
        </p:txBody>
      </p:sp>
      <p:sp>
        <p:nvSpPr>
          <p:cNvPr id="8" name="Rounded Rectangle 7"/>
          <p:cNvSpPr/>
          <p:nvPr/>
        </p:nvSpPr>
        <p:spPr>
          <a:xfrm>
            <a:off x="6309360" y="128016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754880" cy="4572000"/>
          </a:xfrm>
          <a:prstGeom prst="rect">
            <a:avLst/>
          </a:prstGeom>
          <a:noFill/>
        </p:spPr>
        <p:txBody>
          <a:bodyPr wrap="square">
            <a:spAutoFit/>
          </a:bodyPr>
          <a:lstStyle/>
          <a:p>
            <a:pPr>
              <a:defRPr sz="1600" b="1">
                <a:solidFill>
                  <a:srgbClr val="1E3A8A"/>
                </a:solidFill>
              </a:defRPr>
            </a:pPr>
            <a:r>
              <a:t>2. The ICDR 5-Grade Staging System</a:t>
            </a:r>
          </a:p>
          <a:p>
            <a:pPr>
              <a:spcBef>
                <a:spcPts val="800"/>
              </a:spcBef>
              <a:defRPr sz="1150">
                <a:solidFill>
                  <a:srgbClr val="0F172A"/>
                </a:solidFill>
              </a:defRPr>
            </a:pPr>
            <a:r>
              <a:t>• Grade 0 (No DR): Normal healthy retina; no vascular abnormalities (49.3% in APTOS).</a:t>
            </a:r>
          </a:p>
          <a:p>
            <a:pPr>
              <a:spcBef>
                <a:spcPts val="800"/>
              </a:spcBef>
              <a:defRPr sz="1150">
                <a:solidFill>
                  <a:srgbClr val="0F172A"/>
                </a:solidFill>
              </a:defRPr>
            </a:pPr>
            <a:r>
              <a:t>• Grade 1 (Mild NPDR): Microaneurysms only; annual monitoring recommended (10.1% in APTOS).</a:t>
            </a:r>
          </a:p>
          <a:p>
            <a:pPr>
              <a:spcBef>
                <a:spcPts val="800"/>
              </a:spcBef>
              <a:defRPr sz="1150">
                <a:solidFill>
                  <a:srgbClr val="0F172A"/>
                </a:solidFill>
              </a:defRPr>
            </a:pPr>
            <a:r>
              <a:t>• Grade 2 (Moderate NPDR): More than microaneurysms; dot-blot hemorrhages, hard exudates, cotton wool spots (27.3% in APTOS).</a:t>
            </a:r>
          </a:p>
          <a:p>
            <a:pPr>
              <a:spcBef>
                <a:spcPts val="800"/>
              </a:spcBef>
              <a:defRPr sz="1150">
                <a:solidFill>
                  <a:srgbClr val="0F172A"/>
                </a:solidFill>
              </a:defRPr>
            </a:pPr>
            <a:r>
              <a:t>• Grade 3 (Severe NPDR): Meets the '4-2-1 Rule': severe hemorrhages in 4 quadrants or venous beading in 2+ quadrants (5.3% in APTOS).</a:t>
            </a:r>
          </a:p>
          <a:p>
            <a:pPr>
              <a:spcBef>
                <a:spcPts val="800"/>
              </a:spcBef>
              <a:defRPr sz="1150">
                <a:solidFill>
                  <a:srgbClr val="0F172A"/>
                </a:solidFill>
              </a:defRPr>
            </a:pPr>
            <a:r>
              <a:t>• Grade 4 (Proliferative DR): Neovascularization and vitreous hemorrhage; high risk of imminent blindness (8.1% in APTOS).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CORE PROBLEM DEFINITION</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Problem Statement: Clinical &amp; Computational Challenges</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19"/>
            <a:ext cx="4846320" cy="2011680"/>
          </a:xfrm>
          <a:prstGeom prst="rect">
            <a:avLst/>
          </a:prstGeom>
          <a:noFill/>
        </p:spPr>
        <p:txBody>
          <a:bodyPr wrap="square">
            <a:spAutoFit/>
          </a:bodyPr>
          <a:lstStyle/>
          <a:p>
            <a:pPr>
              <a:defRPr sz="1300" b="1">
                <a:solidFill>
                  <a:srgbClr val="1E3A8A"/>
                </a:solidFill>
              </a:defRPr>
            </a:pPr>
            <a:r>
              <a:t>1. Severe Real-World Class Imbalance</a:t>
            </a:r>
          </a:p>
          <a:p>
            <a:pPr>
              <a:spcBef>
                <a:spcPts val="600"/>
              </a:spcBef>
              <a:defRPr sz="1100">
                <a:solidFill>
                  <a:srgbClr val="0F172A"/>
                </a:solidFill>
              </a:defRPr>
            </a:pPr>
            <a:r>
              <a:t>In the benchmark APTOS 2019 dataset (3,662 images), Grade 0 constitutes 49.3% while Grade 3 represents only 5.3%. Standard cross-entropy optimization collapses by predicting only the majority class, missing severe sight-threatening lesions.</a:t>
            </a:r>
          </a:p>
        </p:txBody>
      </p:sp>
      <p:sp>
        <p:nvSpPr>
          <p:cNvPr id="8" name="Rounded Rectangle 7"/>
          <p:cNvSpPr/>
          <p:nvPr/>
        </p:nvSpPr>
        <p:spPr>
          <a:xfrm>
            <a:off x="6217920" y="128016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19"/>
            <a:ext cx="4846320" cy="2011680"/>
          </a:xfrm>
          <a:prstGeom prst="rect">
            <a:avLst/>
          </a:prstGeom>
          <a:noFill/>
        </p:spPr>
        <p:txBody>
          <a:bodyPr wrap="square">
            <a:spAutoFit/>
          </a:bodyPr>
          <a:lstStyle/>
          <a:p>
            <a:pPr>
              <a:defRPr sz="1300" b="1">
                <a:solidFill>
                  <a:srgbClr val="1E3A8A"/>
                </a:solidFill>
              </a:defRPr>
            </a:pPr>
            <a:r>
              <a:t>2. Asymmetric Ordinal Distance Penalties</a:t>
            </a:r>
          </a:p>
          <a:p>
            <a:pPr>
              <a:spcBef>
                <a:spcPts val="600"/>
              </a:spcBef>
              <a:defRPr sz="1100">
                <a:solidFill>
                  <a:srgbClr val="0F172A"/>
                </a:solidFill>
              </a:defRPr>
            </a:pPr>
            <a:r>
              <a:t>DR severity is an ordinal clinical continuum. Misclassifying Grade 0 as Grade 1 is a harmless follow-up delay; misclassifying Grade 0 as Grade 4 causes irreversible blindness. Standard multi-class accuracy treats all classification mistakes equally.</a:t>
            </a:r>
          </a:p>
        </p:txBody>
      </p:sp>
      <p:sp>
        <p:nvSpPr>
          <p:cNvPr id="10" name="Rounded Rectangle 9"/>
          <p:cNvSpPr/>
          <p:nvPr/>
        </p:nvSpPr>
        <p:spPr>
          <a:xfrm>
            <a:off x="731520" y="3749039"/>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86200"/>
            <a:ext cx="4846320" cy="2011680"/>
          </a:xfrm>
          <a:prstGeom prst="rect">
            <a:avLst/>
          </a:prstGeom>
          <a:noFill/>
        </p:spPr>
        <p:txBody>
          <a:bodyPr wrap="square">
            <a:spAutoFit/>
          </a:bodyPr>
          <a:lstStyle/>
          <a:p>
            <a:pPr>
              <a:defRPr sz="1300" b="1">
                <a:solidFill>
                  <a:srgbClr val="1E3A8A"/>
                </a:solidFill>
              </a:defRPr>
            </a:pPr>
            <a:r>
              <a:t>3. Classical Overparameterization &amp; Compute</a:t>
            </a:r>
          </a:p>
          <a:p>
            <a:pPr>
              <a:spcBef>
                <a:spcPts val="600"/>
              </a:spcBef>
              <a:defRPr sz="1100">
                <a:solidFill>
                  <a:srgbClr val="0F172A"/>
                </a:solidFill>
              </a:defRPr>
            </a:pPr>
            <a:r>
              <a:t>Deep CNNs (ResNet-50: 25.6M params, ResNet18: 11.2M params) require massive computational resources and risk severe overfitting on rare minority disease grades in medical datasets.</a:t>
            </a:r>
          </a:p>
        </p:txBody>
      </p:sp>
      <p:sp>
        <p:nvSpPr>
          <p:cNvPr id="12" name="Rounded Rectangle 11"/>
          <p:cNvSpPr/>
          <p:nvPr/>
        </p:nvSpPr>
        <p:spPr>
          <a:xfrm>
            <a:off x="6217920" y="3749039"/>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886200"/>
            <a:ext cx="4846320" cy="2011680"/>
          </a:xfrm>
          <a:prstGeom prst="rect">
            <a:avLst/>
          </a:prstGeom>
          <a:noFill/>
        </p:spPr>
        <p:txBody>
          <a:bodyPr wrap="square">
            <a:spAutoFit/>
          </a:bodyPr>
          <a:lstStyle/>
          <a:p>
            <a:pPr>
              <a:defRPr sz="1300" b="1">
                <a:solidFill>
                  <a:srgbClr val="0D9488"/>
                </a:solidFill>
              </a:defRPr>
            </a:pPr>
            <a:r>
              <a:t>4. The Quantum Opportunity</a:t>
            </a:r>
          </a:p>
          <a:p>
            <a:pPr>
              <a:spcBef>
                <a:spcPts val="600"/>
              </a:spcBef>
              <a:defRPr sz="1100">
                <a:solidFill>
                  <a:srgbClr val="0F172A"/>
                </a:solidFill>
              </a:defRPr>
            </a:pPr>
            <a:r>
              <a:t>Can shallow Parameterized Quantum Circuits (PQCs) operating in exponential Hilbert space formulate effective decision boundaries with &gt;99% fewer parameters, achieving high clinical agreement (QWK)?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PROJECT OBJECTIVES</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Objectives: Project Goals &amp; Scope</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19"/>
            <a:ext cx="4846320" cy="1188720"/>
          </a:xfrm>
          <a:prstGeom prst="rect">
            <a:avLst/>
          </a:prstGeom>
          <a:noFill/>
        </p:spPr>
        <p:txBody>
          <a:bodyPr wrap="square">
            <a:spAutoFit/>
          </a:bodyPr>
          <a:lstStyle/>
          <a:p>
            <a:pPr>
              <a:defRPr sz="1300" b="1">
                <a:solidFill>
                  <a:srgbClr val="0D9488"/>
                </a:solidFill>
              </a:defRPr>
            </a:pPr>
            <a:r>
              <a:t>Objective 1: Clinical Preprocessing Engine</a:t>
            </a:r>
          </a:p>
          <a:p>
            <a:pPr>
              <a:spcBef>
                <a:spcPts val="400"/>
              </a:spcBef>
              <a:defRPr sz="1100">
                <a:solidFill>
                  <a:srgbClr val="0F172A"/>
                </a:solidFill>
              </a:defRPr>
            </a:pPr>
            <a:r>
              <a:t>Implement automated, standardized fundus preprocessing via Ben Graham circular masking and green-channel CLAHE at 224x224 to enhance lesion contrast.</a:t>
            </a:r>
          </a:p>
        </p:txBody>
      </p:sp>
      <p:sp>
        <p:nvSpPr>
          <p:cNvPr id="8" name="Rounded Rectangle 7"/>
          <p:cNvSpPr/>
          <p:nvPr/>
        </p:nvSpPr>
        <p:spPr>
          <a:xfrm>
            <a:off x="6217920" y="128016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19"/>
            <a:ext cx="4846320" cy="1188720"/>
          </a:xfrm>
          <a:prstGeom prst="rect">
            <a:avLst/>
          </a:prstGeom>
          <a:noFill/>
        </p:spPr>
        <p:txBody>
          <a:bodyPr wrap="square">
            <a:spAutoFit/>
          </a:bodyPr>
          <a:lstStyle/>
          <a:p>
            <a:pPr>
              <a:defRPr sz="1300" b="1">
                <a:solidFill>
                  <a:srgbClr val="1E3A8A"/>
                </a:solidFill>
              </a:defRPr>
            </a:pPr>
            <a:r>
              <a:t>Objective 2: Controlled Classical Baselines</a:t>
            </a:r>
          </a:p>
          <a:p>
            <a:pPr>
              <a:spcBef>
                <a:spcPts val="400"/>
              </a:spcBef>
              <a:defRPr sz="1100">
                <a:solidFill>
                  <a:srgbClr val="0F172A"/>
                </a:solidFill>
              </a:defRPr>
            </a:pPr>
            <a:r>
              <a:t>Train state-of-the-art classical backbones (ResNet18, MobileNetV2) using class-weighted Focal Loss (gamma=2.0) on APTOS 2019 to establish a rigorous performance benchmark.</a:t>
            </a:r>
          </a:p>
        </p:txBody>
      </p:sp>
      <p:sp>
        <p:nvSpPr>
          <p:cNvPr id="10" name="Rounded Rectangle 9"/>
          <p:cNvSpPr/>
          <p:nvPr/>
        </p:nvSpPr>
        <p:spPr>
          <a:xfrm>
            <a:off x="731520" y="292608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63240"/>
            <a:ext cx="4846320" cy="1188720"/>
          </a:xfrm>
          <a:prstGeom prst="rect">
            <a:avLst/>
          </a:prstGeom>
          <a:noFill/>
        </p:spPr>
        <p:txBody>
          <a:bodyPr wrap="square">
            <a:spAutoFit/>
          </a:bodyPr>
          <a:lstStyle/>
          <a:p>
            <a:pPr>
              <a:defRPr sz="1300" b="1">
                <a:solidFill>
                  <a:srgbClr val="0D9488"/>
                </a:solidFill>
              </a:defRPr>
            </a:pPr>
            <a:r>
              <a:t>Objective 3: Quantum Architecture &amp; Compression Ablation</a:t>
            </a:r>
          </a:p>
          <a:p>
            <a:pPr>
              <a:spcBef>
                <a:spcPts val="400"/>
              </a:spcBef>
              <a:defRPr sz="1100">
                <a:solidFill>
                  <a:srgbClr val="0F172A"/>
                </a:solidFill>
              </a:defRPr>
            </a:pPr>
            <a:r>
              <a:t>Design PennyLane Parameterized Quantum Circuits (4 &amp; 8 qubits) and systematically compare Linear, Deep Autoencoder, and PCA state preparation bottlenecks.</a:t>
            </a:r>
          </a:p>
        </p:txBody>
      </p:sp>
      <p:sp>
        <p:nvSpPr>
          <p:cNvPr id="12" name="Rounded Rectangle 11"/>
          <p:cNvSpPr/>
          <p:nvPr/>
        </p:nvSpPr>
        <p:spPr>
          <a:xfrm>
            <a:off x="6217920" y="292608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063240"/>
            <a:ext cx="4846320" cy="1188720"/>
          </a:xfrm>
          <a:prstGeom prst="rect">
            <a:avLst/>
          </a:prstGeom>
          <a:noFill/>
        </p:spPr>
        <p:txBody>
          <a:bodyPr wrap="square">
            <a:spAutoFit/>
          </a:bodyPr>
          <a:lstStyle/>
          <a:p>
            <a:pPr>
              <a:defRPr sz="1300" b="1">
                <a:solidFill>
                  <a:srgbClr val="1E3A8A"/>
                </a:solidFill>
              </a:defRPr>
            </a:pPr>
            <a:r>
              <a:t>Objective 4: Parameter Efficiency &amp; Clinical QWK</a:t>
            </a:r>
          </a:p>
          <a:p>
            <a:pPr>
              <a:spcBef>
                <a:spcPts val="400"/>
              </a:spcBef>
              <a:defRPr sz="1100">
                <a:solidFill>
                  <a:srgbClr val="0F172A"/>
                </a:solidFill>
              </a:defRPr>
            </a:pPr>
            <a:r>
              <a:t>Demonstrate that a PQC with only 12 variational parameters can achieve high clinical Quadratic Weighted Kappa (QWK &gt; 0.75) with &gt;99% fewer decision parameters.</a:t>
            </a:r>
          </a:p>
        </p:txBody>
      </p:sp>
      <p:sp>
        <p:nvSpPr>
          <p:cNvPr id="14" name="Rounded Rectangle 13"/>
          <p:cNvSpPr/>
          <p:nvPr/>
        </p:nvSpPr>
        <p:spPr>
          <a:xfrm>
            <a:off x="731520" y="457200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9160"/>
            <a:ext cx="4846320" cy="1188720"/>
          </a:xfrm>
          <a:prstGeom prst="rect">
            <a:avLst/>
          </a:prstGeom>
          <a:noFill/>
        </p:spPr>
        <p:txBody>
          <a:bodyPr wrap="square">
            <a:spAutoFit/>
          </a:bodyPr>
          <a:lstStyle/>
          <a:p>
            <a:pPr>
              <a:defRPr sz="1300" b="1">
                <a:solidFill>
                  <a:srgbClr val="0D9488"/>
                </a:solidFill>
              </a:defRPr>
            </a:pPr>
            <a:r>
              <a:t>Objective 5: NISQ Noise Resilience &amp; QPU Execution</a:t>
            </a:r>
          </a:p>
          <a:p>
            <a:pPr>
              <a:spcBef>
                <a:spcPts val="400"/>
              </a:spcBef>
              <a:defRPr sz="1100">
                <a:solidFill>
                  <a:srgbClr val="0F172A"/>
                </a:solidFill>
              </a:defRPr>
            </a:pPr>
            <a:r>
              <a:t>Benchmark circuit degradation under simulated depolarizing noise (Qiskit Aer) and execute a 100-sample test batch on real IBM Quantum superconducting hardware (ibm_brisbane).</a:t>
            </a:r>
          </a:p>
        </p:txBody>
      </p:sp>
      <p:sp>
        <p:nvSpPr>
          <p:cNvPr id="16" name="Rounded Rectangle 15"/>
          <p:cNvSpPr/>
          <p:nvPr/>
        </p:nvSpPr>
        <p:spPr>
          <a:xfrm>
            <a:off x="6217920" y="457200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709160"/>
            <a:ext cx="4846320" cy="1188720"/>
          </a:xfrm>
          <a:prstGeom prst="rect">
            <a:avLst/>
          </a:prstGeom>
          <a:noFill/>
        </p:spPr>
        <p:txBody>
          <a:bodyPr wrap="square">
            <a:spAutoFit/>
          </a:bodyPr>
          <a:lstStyle/>
          <a:p>
            <a:pPr>
              <a:defRPr sz="1300" b="1">
                <a:solidFill>
                  <a:srgbClr val="1E3A8A"/>
                </a:solidFill>
              </a:defRPr>
            </a:pPr>
            <a:r>
              <a:t>Objective 6: Clinical Deployment Dashboard</a:t>
            </a:r>
          </a:p>
          <a:p>
            <a:pPr>
              <a:spcBef>
                <a:spcPts val="400"/>
              </a:spcBef>
              <a:defRPr sz="1100">
                <a:solidFill>
                  <a:srgbClr val="0F172A"/>
                </a:solidFill>
              </a:defRPr>
            </a:pPr>
            <a:r>
              <a:t>Develop an interactive Streamlit clinical web app for real-time fundus upload, angle inspection, and instant severity triage.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STATE-OF-THE-ART ANALYSIS</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Literature Review &amp; Identified Research Gaps</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graphicFrame>
        <p:nvGraphicFramePr>
          <p:cNvPr id="6" name="Table 5"/>
          <p:cNvGraphicFramePr>
            <a:graphicFrameLocks noGrp="1"/>
          </p:cNvGraphicFramePr>
          <p:nvPr/>
        </p:nvGraphicFramePr>
        <p:xfrm>
          <a:off x="731520" y="1280160"/>
          <a:ext cx="10725912" cy="2926080"/>
        </p:xfrm>
        <a:graphic>
          <a:graphicData uri="http://schemas.openxmlformats.org/drawingml/2006/table">
            <a:tbl>
              <a:tblPr firstRow="1" bandRow="1">
                <a:tableStyleId>{5C22544A-7EE6-4342-B048-85BDC9FD1C3A}</a:tableStyleId>
              </a:tblPr>
              <a:tblGrid>
                <a:gridCol w="2011680"/>
                <a:gridCol w="3291840"/>
                <a:gridCol w="2011680"/>
                <a:gridCol w="3410712"/>
              </a:tblGrid>
              <a:tr h="487680">
                <a:tc>
                  <a:txBody>
                    <a:bodyPr/>
                    <a:lstStyle/>
                    <a:p>
                      <a:pPr>
                        <a:defRPr sz="1100" b="1">
                          <a:solidFill>
                            <a:srgbClr val="FFFFFF"/>
                          </a:solidFill>
                        </a:defRPr>
                      </a:pPr>
                      <a:r>
                        <a:t>Author &amp; Year</a:t>
                      </a:r>
                    </a:p>
                  </a:txBody>
                  <a:tcPr>
                    <a:solidFill>
                      <a:srgbClr val="0F172A"/>
                    </a:solidFill>
                  </a:tcPr>
                </a:tc>
                <a:tc>
                  <a:txBody>
                    <a:bodyPr/>
                    <a:lstStyle/>
                    <a:p>
                      <a:pPr>
                        <a:defRPr sz="1100" b="1">
                          <a:solidFill>
                            <a:srgbClr val="FFFFFF"/>
                          </a:solidFill>
                        </a:defRPr>
                      </a:pPr>
                      <a:r>
                        <a:t>Proposed Architecture</a:t>
                      </a:r>
                    </a:p>
                  </a:txBody>
                  <a:tcPr>
                    <a:solidFill>
                      <a:srgbClr val="0F172A"/>
                    </a:solidFill>
                  </a:tcPr>
                </a:tc>
                <a:tc>
                  <a:txBody>
                    <a:bodyPr/>
                    <a:lstStyle/>
                    <a:p>
                      <a:pPr>
                        <a:defRPr sz="1100" b="1">
                          <a:solidFill>
                            <a:srgbClr val="FFFFFF"/>
                          </a:solidFill>
                        </a:defRPr>
                      </a:pPr>
                      <a:r>
                        <a:t>Reported Metrics</a:t>
                      </a:r>
                    </a:p>
                  </a:txBody>
                  <a:tcPr>
                    <a:solidFill>
                      <a:srgbClr val="0F172A"/>
                    </a:solidFill>
                  </a:tcPr>
                </a:tc>
                <a:tc>
                  <a:txBody>
                    <a:bodyPr/>
                    <a:lstStyle/>
                    <a:p>
                      <a:pPr>
                        <a:defRPr sz="1100" b="1">
                          <a:solidFill>
                            <a:srgbClr val="FFFFFF"/>
                          </a:solidFill>
                        </a:defRPr>
                      </a:pPr>
                      <a:r>
                        <a:t>Critical Research Limitations</a:t>
                      </a:r>
                    </a:p>
                  </a:txBody>
                  <a:tcPr>
                    <a:solidFill>
                      <a:srgbClr val="0F172A"/>
                    </a:solidFill>
                  </a:tcPr>
                </a:tc>
              </a:tr>
              <a:tr h="487680">
                <a:tc>
                  <a:txBody>
                    <a:bodyPr/>
                    <a:lstStyle/>
                    <a:p>
                      <a:pPr>
                        <a:defRPr sz="1000">
                          <a:solidFill>
                            <a:srgbClr val="0F172A"/>
                          </a:solidFill>
                        </a:defRPr>
                      </a:pPr>
                      <a:r>
                        <a:t>Bali et al. (2025)</a:t>
                      </a:r>
                    </a:p>
                    <a:p>
                      <a:pPr>
                        <a:defRPr sz="1000">
                          <a:solidFill>
                            <a:srgbClr val="0F172A"/>
                          </a:solidFill>
                        </a:defRPr>
                      </a:pPr>
                      <a:r>
                        <a:t>MethodsX (Elsevier)</a:t>
                      </a:r>
                    </a:p>
                  </a:txBody>
                  <a:tcPr>
                    <a:solidFill>
                      <a:srgbClr val="FFFFFF"/>
                    </a:solidFill>
                  </a:tcPr>
                </a:tc>
                <a:tc>
                  <a:txBody>
                    <a:bodyPr/>
                    <a:lstStyle/>
                    <a:p>
                      <a:pPr>
                        <a:defRPr sz="1000">
                          <a:solidFill>
                            <a:srgbClr val="0F172A"/>
                          </a:solidFill>
                        </a:defRPr>
                      </a:pPr>
                      <a:r>
                        <a:t>QuantumNet: ResNet-50 + Variational Quantum Classifier (VQC)</a:t>
                      </a:r>
                    </a:p>
                  </a:txBody>
                  <a:tcPr>
                    <a:solidFill>
                      <a:srgbClr val="FFFFFF"/>
                    </a:solidFill>
                  </a:tcPr>
                </a:tc>
                <a:tc>
                  <a:txBody>
                    <a:bodyPr/>
                    <a:lstStyle/>
                    <a:p>
                      <a:pPr>
                        <a:defRPr sz="1000">
                          <a:solidFill>
                            <a:srgbClr val="0F172A"/>
                          </a:solidFill>
                        </a:defRPr>
                      </a:pPr>
                      <a:r>
                        <a:t>Accuracy: 94.11%</a:t>
                      </a:r>
                    </a:p>
                  </a:txBody>
                  <a:tcPr>
                    <a:solidFill>
                      <a:srgbClr val="FFFFFF"/>
                    </a:solidFill>
                  </a:tcPr>
                </a:tc>
                <a:tc>
                  <a:txBody>
                    <a:bodyPr/>
                    <a:lstStyle/>
                    <a:p>
                      <a:pPr>
                        <a:defRPr sz="1000">
                          <a:solidFill>
                            <a:srgbClr val="0F172A"/>
                          </a:solidFill>
                        </a:defRPr>
                      </a:pPr>
                      <a:r>
                        <a:t>Evaluated only on noiseless simulator; no QWK; arbitrary linear bottleneck; no real QPU execution.</a:t>
                      </a:r>
                    </a:p>
                  </a:txBody>
                  <a:tcPr>
                    <a:solidFill>
                      <a:srgbClr val="FFFFFF"/>
                    </a:solidFill>
                  </a:tcPr>
                </a:tc>
              </a:tr>
              <a:tr h="487680">
                <a:tc>
                  <a:txBody>
                    <a:bodyPr/>
                    <a:lstStyle/>
                    <a:p>
                      <a:pPr>
                        <a:defRPr sz="1000">
                          <a:solidFill>
                            <a:srgbClr val="0F172A"/>
                          </a:solidFill>
                        </a:defRPr>
                      </a:pPr>
                      <a:r>
                        <a:t>Ara et al. (2025)</a:t>
                      </a:r>
                    </a:p>
                    <a:p>
                      <a:pPr>
                        <a:defRPr sz="1000">
                          <a:solidFill>
                            <a:srgbClr val="0F172A"/>
                          </a:solidFill>
                        </a:defRPr>
                      </a:pPr>
                      <a:r>
                        <a:t>MethodsX (Elsevier)</a:t>
                      </a:r>
                    </a:p>
                  </a:txBody>
                  <a:tcPr>
                    <a:solidFill>
                      <a:srgbClr val="F8FAFC"/>
                    </a:solidFill>
                  </a:tcPr>
                </a:tc>
                <a:tc>
                  <a:txBody>
                    <a:bodyPr/>
                    <a:lstStyle/>
                    <a:p>
                      <a:pPr>
                        <a:defRPr sz="1000">
                          <a:solidFill>
                            <a:srgbClr val="0F172A"/>
                          </a:solidFill>
                        </a:defRPr>
                      </a:pPr>
                      <a:r>
                        <a:t>ResNet-50 + Dense Bottleneck + 8-Qubit VQC (Ry-Rz + CNOT)</a:t>
                      </a:r>
                    </a:p>
                  </a:txBody>
                  <a:tcPr>
                    <a:solidFill>
                      <a:srgbClr val="F8FAFC"/>
                    </a:solidFill>
                  </a:tcPr>
                </a:tc>
                <a:tc>
                  <a:txBody>
                    <a:bodyPr/>
                    <a:lstStyle/>
                    <a:p>
                      <a:pPr>
                        <a:defRPr sz="1000">
                          <a:solidFill>
                            <a:srgbClr val="0F172A"/>
                          </a:solidFill>
                        </a:defRPr>
                      </a:pPr>
                      <a:r>
                        <a:t>Balanced Acc: 80.96%</a:t>
                      </a:r>
                    </a:p>
                  </a:txBody>
                  <a:tcPr>
                    <a:solidFill>
                      <a:srgbClr val="F8FAFC"/>
                    </a:solidFill>
                  </a:tcPr>
                </a:tc>
                <a:tc>
                  <a:txBody>
                    <a:bodyPr/>
                    <a:lstStyle/>
                    <a:p>
                      <a:pPr>
                        <a:defRPr sz="1000">
                          <a:solidFill>
                            <a:srgbClr val="0F172A"/>
                          </a:solidFill>
                        </a:defRPr>
                      </a:pPr>
                      <a:r>
                        <a:t>Statevector simulation only; zero noise modeling; 2048-&gt;8 linear layer causes loss of lesion signals.</a:t>
                      </a:r>
                    </a:p>
                  </a:txBody>
                  <a:tcPr>
                    <a:solidFill>
                      <a:srgbClr val="F8FAFC"/>
                    </a:solidFill>
                  </a:tcPr>
                </a:tc>
              </a:tr>
              <a:tr h="487680">
                <a:tc>
                  <a:txBody>
                    <a:bodyPr/>
                    <a:lstStyle/>
                    <a:p>
                      <a:pPr>
                        <a:defRPr sz="1000">
                          <a:solidFill>
                            <a:srgbClr val="0F172A"/>
                          </a:solidFill>
                        </a:defRPr>
                      </a:pPr>
                      <a:r>
                        <a:t>Stalin Babu et al. (2025)</a:t>
                      </a:r>
                    </a:p>
                    <a:p>
                      <a:pPr>
                        <a:defRPr sz="1000">
                          <a:solidFill>
                            <a:srgbClr val="0F172A"/>
                          </a:solidFill>
                        </a:defRPr>
                      </a:pPr>
                      <a:r>
                        <a:t>IEEE OTCON</a:t>
                      </a:r>
                    </a:p>
                  </a:txBody>
                  <a:tcPr>
                    <a:solidFill>
                      <a:srgbClr val="FFFFFF"/>
                    </a:solidFill>
                  </a:tcPr>
                </a:tc>
                <a:tc>
                  <a:txBody>
                    <a:bodyPr/>
                    <a:lstStyle/>
                    <a:p>
                      <a:pPr>
                        <a:defRPr sz="1000">
                          <a:solidFill>
                            <a:srgbClr val="0F172A"/>
                          </a:solidFill>
                        </a:defRPr>
                      </a:pPr>
                      <a:r>
                        <a:t>HQCNN: Classical CNN + Angle rotation quantum layers</a:t>
                      </a:r>
                    </a:p>
                  </a:txBody>
                  <a:tcPr>
                    <a:solidFill>
                      <a:srgbClr val="FFFFFF"/>
                    </a:solidFill>
                  </a:tcPr>
                </a:tc>
                <a:tc>
                  <a:txBody>
                    <a:bodyPr/>
                    <a:lstStyle/>
                    <a:p>
                      <a:pPr>
                        <a:defRPr sz="1000">
                          <a:solidFill>
                            <a:srgbClr val="0F172A"/>
                          </a:solidFill>
                        </a:defRPr>
                      </a:pPr>
                      <a:r>
                        <a:t>Accuracy: 98.89%</a:t>
                      </a:r>
                    </a:p>
                    <a:p>
                      <a:pPr>
                        <a:defRPr sz="1000">
                          <a:solidFill>
                            <a:srgbClr val="0F172A"/>
                          </a:solidFill>
                        </a:defRPr>
                      </a:pPr>
                      <a:r>
                        <a:t>F1: 97.58%</a:t>
                      </a:r>
                    </a:p>
                  </a:txBody>
                  <a:tcPr>
                    <a:solidFill>
                      <a:srgbClr val="FFFFFF"/>
                    </a:solidFill>
                  </a:tcPr>
                </a:tc>
                <a:tc>
                  <a:txBody>
                    <a:bodyPr/>
                    <a:lstStyle/>
                    <a:p>
                      <a:pPr>
                        <a:defRPr sz="1000">
                          <a:solidFill>
                            <a:srgbClr val="0F172A"/>
                          </a:solidFill>
                        </a:defRPr>
                      </a:pPr>
                      <a:r>
                        <a:t>Evaluated on small curated subset; lacks ordinal clinical distance metrics (no QWK).</a:t>
                      </a:r>
                    </a:p>
                  </a:txBody>
                  <a:tcPr>
                    <a:solidFill>
                      <a:srgbClr val="FFFFFF"/>
                    </a:solidFill>
                  </a:tcPr>
                </a:tc>
              </a:tr>
              <a:tr h="487680">
                <a:tc>
                  <a:txBody>
                    <a:bodyPr/>
                    <a:lstStyle/>
                    <a:p>
                      <a:pPr>
                        <a:defRPr sz="1000">
                          <a:solidFill>
                            <a:srgbClr val="0F172A"/>
                          </a:solidFill>
                        </a:defRPr>
                      </a:pPr>
                      <a:r>
                        <a:t>Sultana &amp; Agrawal (2026)</a:t>
                      </a:r>
                    </a:p>
                    <a:p>
                      <a:pPr>
                        <a:defRPr sz="1000">
                          <a:solidFill>
                            <a:srgbClr val="0F172A"/>
                          </a:solidFill>
                        </a:defRPr>
                      </a:pPr>
                      <a:r>
                        <a:t>IEEE Conference</a:t>
                      </a:r>
                    </a:p>
                  </a:txBody>
                  <a:tcPr>
                    <a:solidFill>
                      <a:srgbClr val="F8FAFC"/>
                    </a:solidFill>
                  </a:tcPr>
                </a:tc>
                <a:tc>
                  <a:txBody>
                    <a:bodyPr/>
                    <a:lstStyle/>
                    <a:p>
                      <a:pPr>
                        <a:defRPr sz="1000">
                          <a:solidFill>
                            <a:srgbClr val="0F172A"/>
                          </a:solidFill>
                        </a:defRPr>
                      </a:pPr>
                      <a:r>
                        <a:t>Q-DRNet: CNN feature encoding + Variational quantum layer</a:t>
                      </a:r>
                    </a:p>
                  </a:txBody>
                  <a:tcPr>
                    <a:solidFill>
                      <a:srgbClr val="F8FAFC"/>
                    </a:solidFill>
                  </a:tcPr>
                </a:tc>
                <a:tc>
                  <a:txBody>
                    <a:bodyPr/>
                    <a:lstStyle/>
                    <a:p>
                      <a:pPr>
                        <a:defRPr sz="1000">
                          <a:solidFill>
                            <a:srgbClr val="0F172A"/>
                          </a:solidFill>
                        </a:defRPr>
                      </a:pPr>
                      <a:r>
                        <a:t>Accuracy: ~97.30%</a:t>
                      </a:r>
                    </a:p>
                  </a:txBody>
                  <a:tcPr>
                    <a:solidFill>
                      <a:srgbClr val="F8FAFC"/>
                    </a:solidFill>
                  </a:tcPr>
                </a:tc>
                <a:tc>
                  <a:txBody>
                    <a:bodyPr/>
                    <a:lstStyle/>
                    <a:p>
                      <a:pPr>
                        <a:defRPr sz="1000">
                          <a:solidFill>
                            <a:srgbClr val="0F172A"/>
                          </a:solidFill>
                        </a:defRPr>
                      </a:pPr>
                      <a:r>
                        <a:t>No physical quantum hardware validation; does not evaluate depolarizing or bit-flip noise.</a:t>
                      </a:r>
                    </a:p>
                  </a:txBody>
                  <a:tcPr>
                    <a:solidFill>
                      <a:srgbClr val="F8FAFC"/>
                    </a:solidFill>
                  </a:tcPr>
                </a:tc>
              </a:tr>
              <a:tr h="487680">
                <a:tc>
                  <a:txBody>
                    <a:bodyPr/>
                    <a:lstStyle/>
                    <a:p>
                      <a:pPr>
                        <a:defRPr sz="1000">
                          <a:solidFill>
                            <a:srgbClr val="0F172A"/>
                          </a:solidFill>
                        </a:defRPr>
                      </a:pPr>
                      <a:r>
                        <a:t>Alsubai et al. (2023)</a:t>
                      </a:r>
                    </a:p>
                    <a:p>
                      <a:pPr>
                        <a:defRPr sz="1000">
                          <a:solidFill>
                            <a:srgbClr val="0F172A"/>
                          </a:solidFill>
                        </a:defRPr>
                      </a:pPr>
                      <a:r>
                        <a:t>Mathematics (MDPI)</a:t>
                      </a:r>
                    </a:p>
                  </a:txBody>
                  <a:tcPr>
                    <a:solidFill>
                      <a:srgbClr val="FFFFFF"/>
                    </a:solidFill>
                  </a:tcPr>
                </a:tc>
                <a:tc>
                  <a:txBody>
                    <a:bodyPr/>
                    <a:lstStyle/>
                    <a:p>
                      <a:pPr>
                        <a:defRPr sz="1000">
                          <a:solidFill>
                            <a:srgbClr val="0F172A"/>
                          </a:solidFill>
                        </a:defRPr>
                      </a:pPr>
                      <a:r>
                        <a:t>Quantum-enhanced CNN + Multi-qubit Inception module</a:t>
                      </a:r>
                    </a:p>
                  </a:txBody>
                  <a:tcPr>
                    <a:solidFill>
                      <a:srgbClr val="FFFFFF"/>
                    </a:solidFill>
                  </a:tcPr>
                </a:tc>
                <a:tc>
                  <a:txBody>
                    <a:bodyPr/>
                    <a:lstStyle/>
                    <a:p>
                      <a:pPr>
                        <a:defRPr sz="1000">
                          <a:solidFill>
                            <a:srgbClr val="0F172A"/>
                          </a:solidFill>
                        </a:defRPr>
                      </a:pPr>
                      <a:r>
                        <a:t>Accuracy: 100% (IDRiD)</a:t>
                      </a:r>
                    </a:p>
                    <a:p>
                      <a:pPr>
                        <a:defRPr sz="1000">
                          <a:solidFill>
                            <a:srgbClr val="0F172A"/>
                          </a:solidFill>
                        </a:defRPr>
                      </a:pPr>
                      <a:r>
                        <a:t>Accuracy: 98% (SUSTech)</a:t>
                      </a:r>
                    </a:p>
                  </a:txBody>
                  <a:tcPr>
                    <a:solidFill>
                      <a:srgbClr val="FFFFFF"/>
                    </a:solidFill>
                  </a:tcPr>
                </a:tc>
                <a:tc>
                  <a:txBody>
                    <a:bodyPr/>
                    <a:lstStyle/>
                    <a:p>
                      <a:pPr>
                        <a:defRPr sz="1000">
                          <a:solidFill>
                            <a:srgbClr val="0F172A"/>
                          </a:solidFill>
                        </a:defRPr>
                      </a:pPr>
                      <a:r>
                        <a:t>Severe risk of overfitting on tiny IDRiD dataset; no QWK; lacks parameter-to-latency accounting.</a:t>
                      </a:r>
                    </a:p>
                  </a:txBody>
                  <a:tcPr>
                    <a:solidFill>
                      <a:srgbClr val="FFFFFF"/>
                    </a:solidFill>
                  </a:tcPr>
                </a:tc>
              </a:tr>
            </a:tbl>
          </a:graphicData>
        </a:graphic>
      </p:graphicFrame>
      <p:sp>
        <p:nvSpPr>
          <p:cNvPr id="7" name="Rounded Rectangle 6"/>
          <p:cNvSpPr/>
          <p:nvPr/>
        </p:nvSpPr>
        <p:spPr>
          <a:xfrm>
            <a:off x="731520" y="4389120"/>
            <a:ext cx="10725912" cy="182880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80560"/>
            <a:ext cx="10332720" cy="1645920"/>
          </a:xfrm>
          <a:prstGeom prst="rect">
            <a:avLst/>
          </a:prstGeom>
          <a:noFill/>
        </p:spPr>
        <p:txBody>
          <a:bodyPr wrap="square">
            <a:spAutoFit/>
          </a:bodyPr>
          <a:lstStyle/>
          <a:p>
            <a:pPr>
              <a:defRPr sz="1300" b="1">
                <a:solidFill>
                  <a:srgbClr val="1E3A8A"/>
                </a:solidFill>
              </a:defRPr>
            </a:pPr>
            <a:r>
              <a:t>How Our Project Addresses the Critical Gaps in Literature:</a:t>
            </a:r>
          </a:p>
          <a:p>
            <a:pPr>
              <a:spcBef>
                <a:spcPts val="200"/>
              </a:spcBef>
              <a:defRPr sz="1100">
                <a:solidFill>
                  <a:srgbClr val="0F172A"/>
                </a:solidFill>
              </a:defRPr>
            </a:pPr>
            <a:r>
              <a:t>1. Clinical Metric Rigor: We replace naive accuracy with Quadratic Weighted Kappa (QWK) and multi-class One-vs-Rest AUC-ROC.</a:t>
            </a:r>
          </a:p>
          <a:p>
            <a:pPr>
              <a:spcBef>
                <a:spcPts val="200"/>
              </a:spcBef>
              <a:defRPr sz="1100">
                <a:solidFill>
                  <a:srgbClr val="0F172A"/>
                </a:solidFill>
              </a:defRPr>
            </a:pPr>
            <a:r>
              <a:t>2. Systematic Compression Ablation: Instead of an arbitrary linear layer, we benchmark Linear Bottleneck vs. Deep Autoencoder vs. PCA.</a:t>
            </a:r>
          </a:p>
          <a:p>
            <a:pPr>
              <a:spcBef>
                <a:spcPts val="200"/>
              </a:spcBef>
              <a:defRPr sz="1100">
                <a:solidFill>
                  <a:srgbClr val="0F172A"/>
                </a:solidFill>
              </a:defRPr>
            </a:pPr>
            <a:r>
              <a:t>3. Strict Parameter &amp; Latency Accounting: We isolate decision parameters (12 quantum params) and measure inference latency.</a:t>
            </a:r>
          </a:p>
          <a:p>
            <a:pPr>
              <a:spcBef>
                <a:spcPts val="200"/>
              </a:spcBef>
              <a:defRPr sz="1100">
                <a:solidFill>
                  <a:srgbClr val="0F172A"/>
                </a:solidFill>
              </a:defRPr>
            </a:pPr>
            <a:r>
              <a:t>4. NISQ Noise &amp; QPU Roadmap: Phase 4 introduces Qiskit Aer depolarizing noise sweeps and physical execution on IBM Quantum (ibm_brisbane).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TECHNICAL METHODOLOGY</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Methodology: Clinical Preprocessing &amp; Mathematical Formulations</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341071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17319"/>
            <a:ext cx="3136392" cy="2011680"/>
          </a:xfrm>
          <a:prstGeom prst="rect">
            <a:avLst/>
          </a:prstGeom>
          <a:noFill/>
        </p:spPr>
        <p:txBody>
          <a:bodyPr wrap="square">
            <a:spAutoFit/>
          </a:bodyPr>
          <a:lstStyle/>
          <a:p>
            <a:pPr>
              <a:defRPr sz="1200" b="1">
                <a:solidFill>
                  <a:srgbClr val="1E3A8A"/>
                </a:solidFill>
              </a:defRPr>
            </a:pPr>
            <a:r>
              <a:t>1. Clinical Preprocessing</a:t>
            </a:r>
          </a:p>
          <a:p>
            <a:pPr>
              <a:spcBef>
                <a:spcPts val="600"/>
              </a:spcBef>
              <a:defRPr sz="1000">
                <a:solidFill>
                  <a:srgbClr val="0F172A"/>
                </a:solidFill>
              </a:defRPr>
            </a:pPr>
            <a:r>
              <a:t>• Ben Graham Circular Crop: Automates contour thresholding, circular masking, and black margin removal.</a:t>
            </a:r>
            <a:br/>
            <a:r>
              <a:t>• Green-Channel CLAHE: Isolates 540-575nm spectrum where hemoglobin absorbs light, maximizing lesion contrast.</a:t>
            </a:r>
            <a:br/>
            <a:r>
              <a:t>• Bilinear Resize: Standardizes images to 224x224x3.</a:t>
            </a:r>
          </a:p>
        </p:txBody>
      </p:sp>
      <p:sp>
        <p:nvSpPr>
          <p:cNvPr id="8" name="Rounded Rectangle 7"/>
          <p:cNvSpPr/>
          <p:nvPr/>
        </p:nvSpPr>
        <p:spPr>
          <a:xfrm>
            <a:off x="4389120" y="1280160"/>
            <a:ext cx="341071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417319"/>
            <a:ext cx="3136392" cy="2011680"/>
          </a:xfrm>
          <a:prstGeom prst="rect">
            <a:avLst/>
          </a:prstGeom>
          <a:noFill/>
        </p:spPr>
        <p:txBody>
          <a:bodyPr wrap="square">
            <a:spAutoFit/>
          </a:bodyPr>
          <a:lstStyle/>
          <a:p>
            <a:pPr>
              <a:defRPr sz="1200" b="1">
                <a:solidFill>
                  <a:srgbClr val="0D9488"/>
                </a:solidFill>
              </a:defRPr>
            </a:pPr>
            <a:r>
              <a:t>2. Class-Weighted Focal Loss</a:t>
            </a:r>
          </a:p>
          <a:p>
            <a:pPr>
              <a:spcBef>
                <a:spcPts val="600"/>
              </a:spcBef>
              <a:defRPr sz="1000">
                <a:solidFill>
                  <a:srgbClr val="0F172A"/>
                </a:solidFill>
              </a:defRPr>
            </a:pPr>
            <a:r>
              <a:t>L_Focal = -sum y_c * alpha_c * (1 - p_c)^gamma * log(p_c)</a:t>
            </a:r>
            <a:br/>
            <a:br/>
            <a:r>
              <a:t>• gamma = 2.0 suppresses easy majority-class gradients (Grade 0)</a:t>
            </a:r>
            <a:br/>
            <a:r>
              <a:t>• alpha_c = N / (C * N_c) enforces 9.3x higher penalty on rare Grade 3 lesions.</a:t>
            </a:r>
          </a:p>
        </p:txBody>
      </p:sp>
      <p:sp>
        <p:nvSpPr>
          <p:cNvPr id="10" name="Rounded Rectangle 9"/>
          <p:cNvSpPr/>
          <p:nvPr/>
        </p:nvSpPr>
        <p:spPr>
          <a:xfrm>
            <a:off x="8046720" y="1280160"/>
            <a:ext cx="341071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417319"/>
            <a:ext cx="3136392" cy="2011680"/>
          </a:xfrm>
          <a:prstGeom prst="rect">
            <a:avLst/>
          </a:prstGeom>
          <a:noFill/>
        </p:spPr>
        <p:txBody>
          <a:bodyPr wrap="square">
            <a:spAutoFit/>
          </a:bodyPr>
          <a:lstStyle/>
          <a:p>
            <a:pPr>
              <a:defRPr sz="1200" b="1">
                <a:solidFill>
                  <a:srgbClr val="1E3A8A"/>
                </a:solidFill>
              </a:defRPr>
            </a:pPr>
            <a:r>
              <a:t>3. Quantum State Preparation</a:t>
            </a:r>
          </a:p>
          <a:p>
            <a:pPr>
              <a:spcBef>
                <a:spcPts val="600"/>
              </a:spcBef>
              <a:defRPr sz="1000">
                <a:solidFill>
                  <a:srgbClr val="0F172A"/>
                </a:solidFill>
              </a:defRPr>
            </a:pPr>
            <a:r>
              <a:t>|psi(z)&gt; = (X)_{i=0}^{n-1} Ry(z_i) |0&gt;</a:t>
            </a:r>
            <a:br/>
            <a:br/>
            <a:r>
              <a:t>• Continuous angles z_i in [-pi, pi] rotate qubits on Bloch sphere</a:t>
            </a:r>
            <a:br/>
            <a:r>
              <a:t>• Constant circuit depth O(1); zero multi-qubit CNOT overhead.</a:t>
            </a:r>
          </a:p>
        </p:txBody>
      </p:sp>
      <p:sp>
        <p:nvSpPr>
          <p:cNvPr id="12" name="Rounded Rectangle 11"/>
          <p:cNvSpPr/>
          <p:nvPr/>
        </p:nvSpPr>
        <p:spPr>
          <a:xfrm>
            <a:off x="731520" y="3749039"/>
            <a:ext cx="341071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886200"/>
            <a:ext cx="3136392" cy="2011680"/>
          </a:xfrm>
          <a:prstGeom prst="rect">
            <a:avLst/>
          </a:prstGeom>
          <a:noFill/>
        </p:spPr>
        <p:txBody>
          <a:bodyPr wrap="square">
            <a:spAutoFit/>
          </a:bodyPr>
          <a:lstStyle/>
          <a:p>
            <a:pPr>
              <a:defRPr sz="1200" b="1">
                <a:solidFill>
                  <a:srgbClr val="0D9488"/>
                </a:solidFill>
              </a:defRPr>
            </a:pPr>
            <a:r>
              <a:t>4. Strongly Entangling Ansatz</a:t>
            </a:r>
          </a:p>
          <a:p>
            <a:pPr>
              <a:spcBef>
                <a:spcPts val="600"/>
              </a:spcBef>
              <a:defRPr sz="1000">
                <a:solidFill>
                  <a:srgbClr val="0F172A"/>
                </a:solidFill>
              </a:defRPr>
            </a:pPr>
            <a:r>
              <a:t>U(theta) = Prod_{l=1}^L [ U_ent * (X) R(alpha, beta, gamma) ]</a:t>
            </a:r>
            <a:br/>
            <a:br/>
            <a:r>
              <a:t>• 3 Euler rotation angles per qubit: Rz(gamma) Ry(beta) Rx(alpha)</a:t>
            </a:r>
            <a:br/>
            <a:r>
              <a:t>• Periodic circular CNOT ring generates multi-qubit entanglement.</a:t>
            </a:r>
          </a:p>
        </p:txBody>
      </p:sp>
      <p:sp>
        <p:nvSpPr>
          <p:cNvPr id="14" name="Rounded Rectangle 13"/>
          <p:cNvSpPr/>
          <p:nvPr/>
        </p:nvSpPr>
        <p:spPr>
          <a:xfrm>
            <a:off x="4389120" y="3749039"/>
            <a:ext cx="341071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3886200"/>
            <a:ext cx="3136392" cy="2011680"/>
          </a:xfrm>
          <a:prstGeom prst="rect">
            <a:avLst/>
          </a:prstGeom>
          <a:noFill/>
        </p:spPr>
        <p:txBody>
          <a:bodyPr wrap="square">
            <a:spAutoFit/>
          </a:bodyPr>
          <a:lstStyle/>
          <a:p>
            <a:pPr>
              <a:defRPr sz="1200" b="1">
                <a:solidFill>
                  <a:srgbClr val="1E3A8A"/>
                </a:solidFill>
              </a:defRPr>
            </a:pPr>
            <a:r>
              <a:t>5. Parameter-Shift Rule</a:t>
            </a:r>
          </a:p>
          <a:p>
            <a:pPr>
              <a:spcBef>
                <a:spcPts val="600"/>
              </a:spcBef>
              <a:defRPr sz="1000">
                <a:solidFill>
                  <a:srgbClr val="0F172A"/>
                </a:solidFill>
              </a:defRPr>
            </a:pPr>
            <a:r>
              <a:t>d&lt;Z_i&gt;/dtheta_j = (&lt;Z_i&gt;(theta_j + pi/2) - &lt;Z_i&gt;(theta_j - pi/2)) / 2</a:t>
            </a:r>
            <a:br/>
            <a:br/>
            <a:r>
              <a:t>• Evaluates exact analytical gradients without intermediate state readout</a:t>
            </a:r>
            <a:br/>
            <a:r>
              <a:t>• Enables hardware-native backpropagation on physical QPUs.</a:t>
            </a:r>
          </a:p>
        </p:txBody>
      </p:sp>
      <p:sp>
        <p:nvSpPr>
          <p:cNvPr id="16" name="Rounded Rectangle 15"/>
          <p:cNvSpPr/>
          <p:nvPr/>
        </p:nvSpPr>
        <p:spPr>
          <a:xfrm>
            <a:off x="8046720" y="3749039"/>
            <a:ext cx="341071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3886200"/>
            <a:ext cx="3136392" cy="2011680"/>
          </a:xfrm>
          <a:prstGeom prst="rect">
            <a:avLst/>
          </a:prstGeom>
          <a:noFill/>
        </p:spPr>
        <p:txBody>
          <a:bodyPr wrap="square">
            <a:spAutoFit/>
          </a:bodyPr>
          <a:lstStyle/>
          <a:p>
            <a:pPr>
              <a:defRPr sz="1200" b="1">
                <a:solidFill>
                  <a:srgbClr val="0D9488"/>
                </a:solidFill>
              </a:defRPr>
            </a:pPr>
            <a:r>
              <a:t>6. Quadratic Weighted Kappa</a:t>
            </a:r>
          </a:p>
          <a:p>
            <a:pPr>
              <a:spcBef>
                <a:spcPts val="600"/>
              </a:spcBef>
              <a:defRPr sz="1000">
                <a:solidFill>
                  <a:srgbClr val="0F172A"/>
                </a:solidFill>
              </a:defRPr>
            </a:pPr>
            <a:r>
              <a:t>kappa = 1 - (sum w_ij O_ij) / (sum w_ij E_ij)</a:t>
            </a:r>
            <a:br/>
            <a:br/>
            <a:r>
              <a:t>w_ij = (i - j)^2 / (C - 1)^2 = (i - j)^2 / 16</a:t>
            </a:r>
            <a:br/>
            <a:r>
              <a:t>• Penalizes severe clinical misclassifications quadratically (w_0,4 = 1.0 vs w_0,1 = 0.0625).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SYSTEM DESIGN &amp; TECH STACK</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System Architecture &amp; Technology Stack</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2011680" cy="20116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828800" cy="1828800"/>
          </a:xfrm>
          <a:prstGeom prst="rect">
            <a:avLst/>
          </a:prstGeom>
          <a:noFill/>
        </p:spPr>
        <p:txBody>
          <a:bodyPr wrap="square">
            <a:spAutoFit/>
          </a:bodyPr>
          <a:lstStyle/>
          <a:p>
            <a:pPr>
              <a:defRPr sz="1200" b="1">
                <a:solidFill>
                  <a:srgbClr val="0D9488"/>
                </a:solidFill>
              </a:defRPr>
            </a:pPr>
            <a:r>
              <a:t>1. Preprocessing</a:t>
            </a:r>
          </a:p>
          <a:p>
            <a:pPr>
              <a:spcBef>
                <a:spcPts val="600"/>
              </a:spcBef>
              <a:defRPr sz="1000">
                <a:solidFill>
                  <a:srgbClr val="0F172A"/>
                </a:solidFill>
              </a:defRPr>
            </a:pPr>
            <a:r>
              <a:t>Ben Graham Circular Crop</a:t>
            </a:r>
            <a:br/>
            <a:r>
              <a:t>Green CLAHE Isolation</a:t>
            </a:r>
            <a:br/>
            <a:r>
              <a:t>Resize: 224 x 224 x 3</a:t>
            </a:r>
          </a:p>
        </p:txBody>
      </p:sp>
      <p:sp>
        <p:nvSpPr>
          <p:cNvPr id="8" name="Rounded Rectangle 7"/>
          <p:cNvSpPr/>
          <p:nvPr/>
        </p:nvSpPr>
        <p:spPr>
          <a:xfrm>
            <a:off x="2926080" y="1280160"/>
            <a:ext cx="2011680" cy="20116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371600"/>
            <a:ext cx="1828800" cy="1828800"/>
          </a:xfrm>
          <a:prstGeom prst="rect">
            <a:avLst/>
          </a:prstGeom>
          <a:noFill/>
        </p:spPr>
        <p:txBody>
          <a:bodyPr wrap="square">
            <a:spAutoFit/>
          </a:bodyPr>
          <a:lstStyle/>
          <a:p>
            <a:pPr>
              <a:defRPr sz="1200" b="1">
                <a:solidFill>
                  <a:srgbClr val="1E3A8A"/>
                </a:solidFill>
              </a:defRPr>
            </a:pPr>
            <a:r>
              <a:t>2. Classical Backbone</a:t>
            </a:r>
          </a:p>
          <a:p>
            <a:pPr>
              <a:spcBef>
                <a:spcPts val="600"/>
              </a:spcBef>
              <a:defRPr sz="1000">
                <a:solidFill>
                  <a:srgbClr val="0F172A"/>
                </a:solidFill>
              </a:defRPr>
            </a:pPr>
            <a:r>
              <a:t>ResNet18 (ImageNet)</a:t>
            </a:r>
            <a:br/>
            <a:r>
              <a:t>Frozen Feature Extractor</a:t>
            </a:r>
            <a:br/>
            <a:r>
              <a:t>Output: 512-d Vector</a:t>
            </a:r>
          </a:p>
        </p:txBody>
      </p:sp>
      <p:sp>
        <p:nvSpPr>
          <p:cNvPr id="10" name="Rounded Rectangle 9"/>
          <p:cNvSpPr/>
          <p:nvPr/>
        </p:nvSpPr>
        <p:spPr>
          <a:xfrm>
            <a:off x="5120640" y="1280160"/>
            <a:ext cx="2011680" cy="20116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79" y="1371600"/>
            <a:ext cx="1828800" cy="1828800"/>
          </a:xfrm>
          <a:prstGeom prst="rect">
            <a:avLst/>
          </a:prstGeom>
          <a:noFill/>
        </p:spPr>
        <p:txBody>
          <a:bodyPr wrap="square">
            <a:spAutoFit/>
          </a:bodyPr>
          <a:lstStyle/>
          <a:p>
            <a:pPr>
              <a:defRPr sz="1200" b="1">
                <a:solidFill>
                  <a:srgbClr val="0D9488"/>
                </a:solidFill>
              </a:defRPr>
            </a:pPr>
            <a:r>
              <a:t>3. Compression Stage</a:t>
            </a:r>
          </a:p>
          <a:p>
            <a:pPr>
              <a:spcBef>
                <a:spcPts val="600"/>
              </a:spcBef>
              <a:defRPr sz="1000">
                <a:solidFill>
                  <a:srgbClr val="0F172A"/>
                </a:solidFill>
              </a:defRPr>
            </a:pPr>
            <a:r>
              <a:t>Linear / Autoencoder / PCA</a:t>
            </a:r>
            <a:br/>
            <a:r>
              <a:t>Output: n_qubits angles</a:t>
            </a:r>
            <a:br/>
            <a:r>
              <a:t>Domain: [-pi, pi]</a:t>
            </a:r>
          </a:p>
        </p:txBody>
      </p:sp>
      <p:sp>
        <p:nvSpPr>
          <p:cNvPr id="12" name="Rounded Rectangle 11"/>
          <p:cNvSpPr/>
          <p:nvPr/>
        </p:nvSpPr>
        <p:spPr>
          <a:xfrm>
            <a:off x="7315199" y="1280160"/>
            <a:ext cx="2011680" cy="20116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371600"/>
            <a:ext cx="1828800" cy="1828800"/>
          </a:xfrm>
          <a:prstGeom prst="rect">
            <a:avLst/>
          </a:prstGeom>
          <a:noFill/>
        </p:spPr>
        <p:txBody>
          <a:bodyPr wrap="square">
            <a:spAutoFit/>
          </a:bodyPr>
          <a:lstStyle/>
          <a:p>
            <a:pPr>
              <a:defRPr sz="1200" b="1">
                <a:solidFill>
                  <a:srgbClr val="1E3A8A"/>
                </a:solidFill>
              </a:defRPr>
            </a:pPr>
            <a:r>
              <a:t>4. Quantum PQC</a:t>
            </a:r>
          </a:p>
          <a:p>
            <a:pPr>
              <a:spcBef>
                <a:spcPts val="600"/>
              </a:spcBef>
              <a:defRPr sz="1000">
                <a:solidFill>
                  <a:srgbClr val="0F172A"/>
                </a:solidFill>
              </a:defRPr>
            </a:pPr>
            <a:r>
              <a:t>AngleEmbedding(Ry)</a:t>
            </a:r>
            <a:br/>
            <a:r>
              <a:t>StronglyEntanglingLayers</a:t>
            </a:r>
            <a:br/>
            <a:r>
              <a:t>Pauli-Z Expectation: [-1, 1]</a:t>
            </a:r>
          </a:p>
        </p:txBody>
      </p:sp>
      <p:sp>
        <p:nvSpPr>
          <p:cNvPr id="14" name="Rounded Rectangle 13"/>
          <p:cNvSpPr/>
          <p:nvPr/>
        </p:nvSpPr>
        <p:spPr>
          <a:xfrm>
            <a:off x="9509760" y="1280160"/>
            <a:ext cx="2011680" cy="20116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0" y="1371600"/>
            <a:ext cx="1828800" cy="1828800"/>
          </a:xfrm>
          <a:prstGeom prst="rect">
            <a:avLst/>
          </a:prstGeom>
          <a:noFill/>
        </p:spPr>
        <p:txBody>
          <a:bodyPr wrap="square">
            <a:spAutoFit/>
          </a:bodyPr>
          <a:lstStyle/>
          <a:p>
            <a:pPr>
              <a:defRPr sz="1200" b="1">
                <a:solidFill>
                  <a:srgbClr val="0D9488"/>
                </a:solidFill>
              </a:defRPr>
            </a:pPr>
            <a:r>
              <a:t>5. Output Head</a:t>
            </a:r>
          </a:p>
          <a:p>
            <a:pPr>
              <a:spcBef>
                <a:spcPts val="600"/>
              </a:spcBef>
              <a:defRPr sz="1000">
                <a:solidFill>
                  <a:srgbClr val="0F172A"/>
                </a:solidFill>
              </a:defRPr>
            </a:pPr>
            <a:r>
              <a:t>Linear Head (n -&gt; 5)</a:t>
            </a:r>
            <a:br/>
            <a:r>
              <a:t>Softmax Probabilities</a:t>
            </a:r>
            <a:br/>
            <a:r>
              <a:t>Focal Loss Optimization</a:t>
            </a:r>
          </a:p>
        </p:txBody>
      </p:sp>
      <p:sp>
        <p:nvSpPr>
          <p:cNvPr id="16" name="Rounded Rectangle 15"/>
          <p:cNvSpPr/>
          <p:nvPr/>
        </p:nvSpPr>
        <p:spPr>
          <a:xfrm>
            <a:off x="731520" y="3474720"/>
            <a:ext cx="3410712"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566160"/>
            <a:ext cx="3136392" cy="2560320"/>
          </a:xfrm>
          <a:prstGeom prst="rect">
            <a:avLst/>
          </a:prstGeom>
          <a:noFill/>
        </p:spPr>
        <p:txBody>
          <a:bodyPr wrap="square">
            <a:spAutoFit/>
          </a:bodyPr>
          <a:lstStyle/>
          <a:p>
            <a:pPr>
              <a:defRPr sz="1300" b="1">
                <a:solidFill>
                  <a:srgbClr val="0D9488"/>
                </a:solidFill>
              </a:defRPr>
            </a:pPr>
            <a:r>
              <a:t>Medical &amp; Preprocessing</a:t>
            </a:r>
          </a:p>
          <a:p>
            <a:pPr>
              <a:spcBef>
                <a:spcPts val="600"/>
              </a:spcBef>
              <a:defRPr sz="1100">
                <a:solidFill>
                  <a:srgbClr val="0F172A"/>
                </a:solidFill>
              </a:defRPr>
            </a:pPr>
            <a:r>
              <a:t>• OpenCV &amp; Albumentations</a:t>
            </a:r>
          </a:p>
          <a:p>
            <a:pPr>
              <a:spcBef>
                <a:spcPts val="600"/>
              </a:spcBef>
              <a:defRPr sz="1100">
                <a:solidFill>
                  <a:srgbClr val="0F172A"/>
                </a:solidFill>
              </a:defRPr>
            </a:pPr>
            <a:r>
              <a:t>• Ben Graham Circular Masking</a:t>
            </a:r>
          </a:p>
          <a:p>
            <a:pPr>
              <a:spcBef>
                <a:spcPts val="600"/>
              </a:spcBef>
              <a:defRPr sz="1100">
                <a:solidFill>
                  <a:srgbClr val="0F172A"/>
                </a:solidFill>
              </a:defRPr>
            </a:pPr>
            <a:r>
              <a:t>• Green-Channel CLAHE Equalization</a:t>
            </a:r>
          </a:p>
        </p:txBody>
      </p:sp>
      <p:sp>
        <p:nvSpPr>
          <p:cNvPr id="18" name="Rounded Rectangle 17"/>
          <p:cNvSpPr/>
          <p:nvPr/>
        </p:nvSpPr>
        <p:spPr>
          <a:xfrm>
            <a:off x="4389120" y="3474720"/>
            <a:ext cx="3410712"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3566160"/>
            <a:ext cx="3136392" cy="2560320"/>
          </a:xfrm>
          <a:prstGeom prst="rect">
            <a:avLst/>
          </a:prstGeom>
          <a:noFill/>
        </p:spPr>
        <p:txBody>
          <a:bodyPr wrap="square">
            <a:spAutoFit/>
          </a:bodyPr>
          <a:lstStyle/>
          <a:p>
            <a:pPr>
              <a:defRPr sz="1300" b="1">
                <a:solidFill>
                  <a:srgbClr val="1E3A8A"/>
                </a:solidFill>
              </a:defRPr>
            </a:pPr>
            <a:r>
              <a:t>Deep Learning &amp; AI Stack</a:t>
            </a:r>
          </a:p>
          <a:p>
            <a:pPr>
              <a:spcBef>
                <a:spcPts val="600"/>
              </a:spcBef>
              <a:defRPr sz="1100">
                <a:solidFill>
                  <a:srgbClr val="0F172A"/>
                </a:solidFill>
              </a:defRPr>
            </a:pPr>
            <a:r>
              <a:t>• PyTorch 2.2+ (Autograd &amp; GPU)</a:t>
            </a:r>
          </a:p>
          <a:p>
            <a:pPr>
              <a:spcBef>
                <a:spcPts val="600"/>
              </a:spcBef>
              <a:defRPr sz="1100">
                <a:solidFill>
                  <a:srgbClr val="0F172A"/>
                </a:solidFill>
              </a:defRPr>
            </a:pPr>
            <a:r>
              <a:t>• ResNet18 &amp; MobileNetV2 (Backbones)</a:t>
            </a:r>
          </a:p>
          <a:p>
            <a:pPr>
              <a:spcBef>
                <a:spcPts val="600"/>
              </a:spcBef>
              <a:defRPr sz="1100">
                <a:solidFill>
                  <a:srgbClr val="0F172A"/>
                </a:solidFill>
              </a:defRPr>
            </a:pPr>
            <a:r>
              <a:t>• Class-Weighted Focal Loss (gamma=2.0)</a:t>
            </a:r>
          </a:p>
        </p:txBody>
      </p:sp>
      <p:sp>
        <p:nvSpPr>
          <p:cNvPr id="20" name="Rounded Rectangle 19"/>
          <p:cNvSpPr/>
          <p:nvPr/>
        </p:nvSpPr>
        <p:spPr>
          <a:xfrm>
            <a:off x="8046720" y="3474720"/>
            <a:ext cx="3410712"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3566160"/>
            <a:ext cx="3136392" cy="2560320"/>
          </a:xfrm>
          <a:prstGeom prst="rect">
            <a:avLst/>
          </a:prstGeom>
          <a:noFill/>
        </p:spPr>
        <p:txBody>
          <a:bodyPr wrap="square">
            <a:spAutoFit/>
          </a:bodyPr>
          <a:lstStyle/>
          <a:p>
            <a:pPr>
              <a:defRPr sz="1300" b="1">
                <a:solidFill>
                  <a:srgbClr val="0D9488"/>
                </a:solidFill>
              </a:defRPr>
            </a:pPr>
            <a:r>
              <a:t>Quantum Technologies</a:t>
            </a:r>
          </a:p>
          <a:p>
            <a:pPr>
              <a:spcBef>
                <a:spcPts val="600"/>
              </a:spcBef>
              <a:defRPr sz="1100">
                <a:solidFill>
                  <a:srgbClr val="0F172A"/>
                </a:solidFill>
              </a:defRPr>
            </a:pPr>
            <a:r>
              <a:t>• PennyLane 0.35+ (Differentiable QML)</a:t>
            </a:r>
          </a:p>
          <a:p>
            <a:pPr>
              <a:spcBef>
                <a:spcPts val="600"/>
              </a:spcBef>
              <a:defRPr sz="1100">
                <a:solidFill>
                  <a:srgbClr val="0F172A"/>
                </a:solidFill>
              </a:defRPr>
            </a:pPr>
            <a:r>
              <a:t>• StronglyEntanglingLayers (Ansatz)</a:t>
            </a:r>
          </a:p>
          <a:p>
            <a:pPr>
              <a:spcBef>
                <a:spcPts val="600"/>
              </a:spcBef>
              <a:defRPr sz="1100">
                <a:solidFill>
                  <a:srgbClr val="0F172A"/>
                </a:solidFill>
              </a:defRPr>
            </a:pPr>
            <a:r>
              <a:t>• Qiskit 1.0 &amp; IBM Quantum (Hardware)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CORE TECHNICAL APPROACH</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Model Algorithm Approach: Hybrid Pipeline &amp; Compression Ablation</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19"/>
            <a:ext cx="4846320" cy="2011680"/>
          </a:xfrm>
          <a:prstGeom prst="rect">
            <a:avLst/>
          </a:prstGeom>
          <a:noFill/>
        </p:spPr>
        <p:txBody>
          <a:bodyPr wrap="square">
            <a:spAutoFit/>
          </a:bodyPr>
          <a:lstStyle/>
          <a:p>
            <a:pPr>
              <a:defRPr sz="1300" b="1">
                <a:solidFill>
                  <a:srgbClr val="1E3A8A"/>
                </a:solidFill>
              </a:defRPr>
            </a:pPr>
            <a:r>
              <a:t>1. Classical Feature Extraction &amp; Freezing</a:t>
            </a:r>
          </a:p>
          <a:p>
            <a:pPr>
              <a:spcBef>
                <a:spcPts val="600"/>
              </a:spcBef>
              <a:defRPr sz="1100">
                <a:solidFill>
                  <a:srgbClr val="0F172A"/>
                </a:solidFill>
              </a:defRPr>
            </a:pPr>
            <a:r>
              <a:t>The ResNet18 convolutional backbone is initialized with ImageNet pre-trained weights and frozen. It acts as a deterministic 512-dimensional spatial feature extractor, isolating the learning capacity of the quantum decision layer.</a:t>
            </a:r>
          </a:p>
        </p:txBody>
      </p:sp>
      <p:sp>
        <p:nvSpPr>
          <p:cNvPr id="8" name="Rounded Rectangle 7"/>
          <p:cNvSpPr/>
          <p:nvPr/>
        </p:nvSpPr>
        <p:spPr>
          <a:xfrm>
            <a:off x="6217920" y="128016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19"/>
            <a:ext cx="4846320" cy="2011680"/>
          </a:xfrm>
          <a:prstGeom prst="rect">
            <a:avLst/>
          </a:prstGeom>
          <a:noFill/>
        </p:spPr>
        <p:txBody>
          <a:bodyPr wrap="square">
            <a:spAutoFit/>
          </a:bodyPr>
          <a:lstStyle/>
          <a:p>
            <a:pPr>
              <a:defRPr sz="1300" b="1">
                <a:solidFill>
                  <a:srgbClr val="0D9488"/>
                </a:solidFill>
              </a:defRPr>
            </a:pPr>
            <a:r>
              <a:t>2. Three Interchangeable Compression Paradigms</a:t>
            </a:r>
          </a:p>
          <a:p>
            <a:pPr>
              <a:spcBef>
                <a:spcPts val="600"/>
              </a:spcBef>
              <a:defRPr sz="1100">
                <a:solidFill>
                  <a:srgbClr val="0F172A"/>
                </a:solidFill>
              </a:defRPr>
            </a:pPr>
            <a:r>
              <a:t>• Bottleneck Linear: Parametric nn.Linear(512, n) with tanh(x) * pi scaling.</a:t>
            </a:r>
            <a:br/>
            <a:r>
              <a:t>• Deep Autoencoder: 3-layer bottleneck (512-&gt;256-&gt;64-&gt;n) pre-trained with MSE reconstruction loss to preserve non-linear lesion manifolds.</a:t>
            </a:r>
            <a:br/>
            <a:r>
              <a:t>• PCA Compressor: Statistical SVD projection + min-max angle scaling.</a:t>
            </a:r>
          </a:p>
        </p:txBody>
      </p:sp>
      <p:sp>
        <p:nvSpPr>
          <p:cNvPr id="10" name="Rounded Rectangle 9"/>
          <p:cNvSpPr/>
          <p:nvPr/>
        </p:nvSpPr>
        <p:spPr>
          <a:xfrm>
            <a:off x="731520" y="3749039"/>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86200"/>
            <a:ext cx="4846320" cy="2011680"/>
          </a:xfrm>
          <a:prstGeom prst="rect">
            <a:avLst/>
          </a:prstGeom>
          <a:noFill/>
        </p:spPr>
        <p:txBody>
          <a:bodyPr wrap="square">
            <a:spAutoFit/>
          </a:bodyPr>
          <a:lstStyle/>
          <a:p>
            <a:pPr>
              <a:defRPr sz="1300" b="1">
                <a:solidFill>
                  <a:srgbClr val="1E3A8A"/>
                </a:solidFill>
              </a:defRPr>
            </a:pPr>
            <a:r>
              <a:t>3. Quantum Variational Layer (PQC)</a:t>
            </a:r>
          </a:p>
          <a:p>
            <a:pPr>
              <a:spcBef>
                <a:spcPts val="600"/>
              </a:spcBef>
              <a:defRPr sz="1100">
                <a:solidFill>
                  <a:srgbClr val="0F172A"/>
                </a:solidFill>
              </a:defRPr>
            </a:pPr>
            <a:r>
              <a:t>Features are mapped to rotation angles in [-pi, pi]. State preparation uses AngleEmbedding on the Y-axis. The StronglyEntanglingLayers ansatz applies Euler rotations and circular CNOT entanglement, followed by Pauli-Z expectation value readout in [-1, 1].</a:t>
            </a:r>
          </a:p>
        </p:txBody>
      </p:sp>
      <p:sp>
        <p:nvSpPr>
          <p:cNvPr id="12" name="Rounded Rectangle 11"/>
          <p:cNvSpPr/>
          <p:nvPr/>
        </p:nvSpPr>
        <p:spPr>
          <a:xfrm>
            <a:off x="6217920" y="3749039"/>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886200"/>
            <a:ext cx="4846320" cy="2011680"/>
          </a:xfrm>
          <a:prstGeom prst="rect">
            <a:avLst/>
          </a:prstGeom>
          <a:noFill/>
        </p:spPr>
        <p:txBody>
          <a:bodyPr wrap="square">
            <a:spAutoFit/>
          </a:bodyPr>
          <a:lstStyle/>
          <a:p>
            <a:pPr>
              <a:defRPr sz="1300" b="1">
                <a:solidFill>
                  <a:srgbClr val="0D9488"/>
                </a:solidFill>
              </a:defRPr>
            </a:pPr>
            <a:r>
              <a:t>4. CPU-GPU Device Bridging Mechanism</a:t>
            </a:r>
          </a:p>
          <a:p>
            <a:pPr>
              <a:spcBef>
                <a:spcPts val="600"/>
              </a:spcBef>
              <a:defRPr sz="1100">
                <a:solidFill>
                  <a:srgbClr val="0F172A"/>
                </a:solidFill>
              </a:defRPr>
            </a:pPr>
            <a:r>
              <a:t>PennyLane's default.qubit simulator executes on CPU, while PyTorch tensors reside on CUDA GPU. Our custom hybrid module routes angles to .cpu() before the quantum layer and transfers outputs back to .to(device) for the classification head.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TRAINING SETUP &amp; BENCHMARK RESULTS</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Model Training &amp; Empirical Results (APTOS Test Set, N=550)</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graphicFrame>
        <p:nvGraphicFramePr>
          <p:cNvPr id="6" name="Table 5"/>
          <p:cNvGraphicFramePr>
            <a:graphicFrameLocks noGrp="1"/>
          </p:cNvGraphicFramePr>
          <p:nvPr/>
        </p:nvGraphicFramePr>
        <p:xfrm>
          <a:off x="731520" y="1280160"/>
          <a:ext cx="10725912" cy="3291840"/>
        </p:xfrm>
        <a:graphic>
          <a:graphicData uri="http://schemas.openxmlformats.org/drawingml/2006/table">
            <a:tbl>
              <a:tblPr firstRow="1" bandRow="1">
                <a:tableStyleId>{5C22544A-7EE6-4342-B048-85BDC9FD1C3A}</a:tableStyleId>
              </a:tblPr>
              <a:tblGrid>
                <a:gridCol w="2377440"/>
                <a:gridCol w="1463040"/>
                <a:gridCol w="1280160"/>
                <a:gridCol w="1188720"/>
                <a:gridCol w="1371600"/>
                <a:gridCol w="1371600"/>
                <a:gridCol w="1673352"/>
              </a:tblGrid>
              <a:tr h="470262">
                <a:tc>
                  <a:txBody>
                    <a:bodyPr/>
                    <a:lstStyle/>
                    <a:p>
                      <a:pPr>
                        <a:defRPr sz="1000" b="1">
                          <a:solidFill>
                            <a:srgbClr val="FFFFFF"/>
                          </a:solidFill>
                        </a:defRPr>
                      </a:pPr>
                      <a:r>
                        <a:t>Model Architecture</a:t>
                      </a:r>
                    </a:p>
                  </a:txBody>
                  <a:tcPr>
                    <a:solidFill>
                      <a:srgbClr val="0F172A"/>
                    </a:solidFill>
                  </a:tcPr>
                </a:tc>
                <a:tc>
                  <a:txBody>
                    <a:bodyPr/>
                    <a:lstStyle/>
                    <a:p>
                      <a:pPr>
                        <a:defRPr sz="1000" b="1">
                          <a:solidFill>
                            <a:srgbClr val="FFFFFF"/>
                          </a:solidFill>
                        </a:defRPr>
                      </a:pPr>
                      <a:r>
                        <a:t>State Prep / Bottleneck</a:t>
                      </a:r>
                    </a:p>
                  </a:txBody>
                  <a:tcPr>
                    <a:solidFill>
                      <a:srgbClr val="0F172A"/>
                    </a:solidFill>
                  </a:tcPr>
                </a:tc>
                <a:tc>
                  <a:txBody>
                    <a:bodyPr/>
                    <a:lstStyle/>
                    <a:p>
                      <a:pPr>
                        <a:defRPr sz="1000" b="1">
                          <a:solidFill>
                            <a:srgbClr val="FFFFFF"/>
                          </a:solidFill>
                        </a:defRPr>
                      </a:pPr>
                      <a:r>
                        <a:t>Decision Params</a:t>
                      </a:r>
                    </a:p>
                  </a:txBody>
                  <a:tcPr>
                    <a:solidFill>
                      <a:srgbClr val="0F172A"/>
                    </a:solidFill>
                  </a:tcPr>
                </a:tc>
                <a:tc>
                  <a:txBody>
                    <a:bodyPr/>
                    <a:lstStyle/>
                    <a:p>
                      <a:pPr>
                        <a:defRPr sz="1000" b="1">
                          <a:solidFill>
                            <a:srgbClr val="FFFFFF"/>
                          </a:solidFill>
                        </a:defRPr>
                      </a:pPr>
                      <a:r>
                        <a:t>Accuracy</a:t>
                      </a:r>
                    </a:p>
                  </a:txBody>
                  <a:tcPr>
                    <a:solidFill>
                      <a:srgbClr val="0F172A"/>
                    </a:solidFill>
                  </a:tcPr>
                </a:tc>
                <a:tc>
                  <a:txBody>
                    <a:bodyPr/>
                    <a:lstStyle/>
                    <a:p>
                      <a:pPr>
                        <a:defRPr sz="1000" b="1">
                          <a:solidFill>
                            <a:srgbClr val="FFFFFF"/>
                          </a:solidFill>
                        </a:defRPr>
                      </a:pPr>
                      <a:r>
                        <a:t>Macro-F1</a:t>
                      </a:r>
                    </a:p>
                  </a:txBody>
                  <a:tcPr>
                    <a:solidFill>
                      <a:srgbClr val="0F172A"/>
                    </a:solidFill>
                  </a:tcPr>
                </a:tc>
                <a:tc>
                  <a:txBody>
                    <a:bodyPr/>
                    <a:lstStyle/>
                    <a:p>
                      <a:pPr>
                        <a:defRPr sz="1000" b="1">
                          <a:solidFill>
                            <a:srgbClr val="FFFFFF"/>
                          </a:solidFill>
                        </a:defRPr>
                      </a:pPr>
                      <a:r>
                        <a:t>QWK (Kappa)</a:t>
                      </a:r>
                    </a:p>
                  </a:txBody>
                  <a:tcPr>
                    <a:solidFill>
                      <a:srgbClr val="0F172A"/>
                    </a:solidFill>
                  </a:tcPr>
                </a:tc>
                <a:tc>
                  <a:txBody>
                    <a:bodyPr/>
                    <a:lstStyle/>
                    <a:p>
                      <a:pPr>
                        <a:defRPr sz="1000" b="1">
                          <a:solidFill>
                            <a:srgbClr val="FFFFFF"/>
                          </a:solidFill>
                        </a:defRPr>
                      </a:pPr>
                      <a:r>
                        <a:t>Latency (ms)</a:t>
                      </a:r>
                    </a:p>
                  </a:txBody>
                  <a:tcPr>
                    <a:solidFill>
                      <a:srgbClr val="0F172A"/>
                    </a:solidFill>
                  </a:tcPr>
                </a:tc>
              </a:tr>
              <a:tr h="470262">
                <a:tc>
                  <a:txBody>
                    <a:bodyPr/>
                    <a:lstStyle/>
                    <a:p>
                      <a:pPr>
                        <a:defRPr sz="1000">
                          <a:solidFill>
                            <a:srgbClr val="0F172A"/>
                          </a:solidFill>
                        </a:defRPr>
                      </a:pPr>
                      <a:r>
                        <a:t>ResNet18 Baseline</a:t>
                      </a:r>
                    </a:p>
                  </a:txBody>
                  <a:tcPr>
                    <a:solidFill>
                      <a:srgbClr val="FFFFFF"/>
                    </a:solidFill>
                  </a:tcPr>
                </a:tc>
                <a:tc>
                  <a:txBody>
                    <a:bodyPr/>
                    <a:lstStyle/>
                    <a:p>
                      <a:pPr>
                        <a:defRPr sz="1000">
                          <a:solidFill>
                            <a:srgbClr val="0F172A"/>
                          </a:solidFill>
                        </a:defRPr>
                      </a:pPr>
                      <a:r>
                        <a:t>Direct Classical Head</a:t>
                      </a:r>
                    </a:p>
                  </a:txBody>
                  <a:tcPr>
                    <a:solidFill>
                      <a:srgbClr val="FFFFFF"/>
                    </a:solidFill>
                  </a:tcPr>
                </a:tc>
                <a:tc>
                  <a:txBody>
                    <a:bodyPr/>
                    <a:lstStyle/>
                    <a:p>
                      <a:pPr>
                        <a:defRPr sz="1000">
                          <a:solidFill>
                            <a:srgbClr val="0F172A"/>
                          </a:solidFill>
                        </a:defRPr>
                      </a:pPr>
                      <a:r>
                        <a:t>2,565</a:t>
                      </a:r>
                    </a:p>
                  </a:txBody>
                  <a:tcPr>
                    <a:solidFill>
                      <a:srgbClr val="FFFFFF"/>
                    </a:solidFill>
                  </a:tcPr>
                </a:tc>
                <a:tc>
                  <a:txBody>
                    <a:bodyPr/>
                    <a:lstStyle/>
                    <a:p>
                      <a:pPr>
                        <a:defRPr sz="1000">
                          <a:solidFill>
                            <a:srgbClr val="0F172A"/>
                          </a:solidFill>
                        </a:defRPr>
                      </a:pPr>
                      <a:r>
                        <a:t>81.27%</a:t>
                      </a:r>
                    </a:p>
                  </a:txBody>
                  <a:tcPr>
                    <a:solidFill>
                      <a:srgbClr val="FFFFFF"/>
                    </a:solidFill>
                  </a:tcPr>
                </a:tc>
                <a:tc>
                  <a:txBody>
                    <a:bodyPr/>
                    <a:lstStyle/>
                    <a:p>
                      <a:pPr>
                        <a:defRPr sz="1000">
                          <a:solidFill>
                            <a:srgbClr val="0F172A"/>
                          </a:solidFill>
                        </a:defRPr>
                      </a:pPr>
                      <a:r>
                        <a:t>0.6601</a:t>
                      </a:r>
                    </a:p>
                  </a:txBody>
                  <a:tcPr>
                    <a:solidFill>
                      <a:srgbClr val="FFFFFF"/>
                    </a:solidFill>
                  </a:tcPr>
                </a:tc>
                <a:tc>
                  <a:txBody>
                    <a:bodyPr/>
                    <a:lstStyle/>
                    <a:p>
                      <a:pPr>
                        <a:defRPr sz="1000">
                          <a:solidFill>
                            <a:srgbClr val="0F172A"/>
                          </a:solidFill>
                        </a:defRPr>
                      </a:pPr>
                      <a:r>
                        <a:t>0.8721</a:t>
                      </a:r>
                    </a:p>
                  </a:txBody>
                  <a:tcPr>
                    <a:solidFill>
                      <a:srgbClr val="FFFFFF"/>
                    </a:solidFill>
                  </a:tcPr>
                </a:tc>
                <a:tc>
                  <a:txBody>
                    <a:bodyPr/>
                    <a:lstStyle/>
                    <a:p>
                      <a:pPr>
                        <a:defRPr sz="1000">
                          <a:solidFill>
                            <a:srgbClr val="0F172A"/>
                          </a:solidFill>
                        </a:defRPr>
                      </a:pPr>
                      <a:r>
                        <a:t>206.26 ms</a:t>
                      </a:r>
                    </a:p>
                  </a:txBody>
                  <a:tcPr>
                    <a:solidFill>
                      <a:srgbClr val="FFFFFF"/>
                    </a:solidFill>
                  </a:tcPr>
                </a:tc>
              </a:tr>
              <a:tr h="470262">
                <a:tc>
                  <a:txBody>
                    <a:bodyPr/>
                    <a:lstStyle/>
                    <a:p>
                      <a:pPr>
                        <a:defRPr sz="1000">
                          <a:solidFill>
                            <a:srgbClr val="0F172A"/>
                          </a:solidFill>
                        </a:defRPr>
                      </a:pPr>
                      <a:r>
                        <a:t>MobileNetV2 Baseline</a:t>
                      </a:r>
                    </a:p>
                  </a:txBody>
                  <a:tcPr>
                    <a:solidFill>
                      <a:srgbClr val="F8FAFC"/>
                    </a:solidFill>
                  </a:tcPr>
                </a:tc>
                <a:tc>
                  <a:txBody>
                    <a:bodyPr/>
                    <a:lstStyle/>
                    <a:p>
                      <a:pPr>
                        <a:defRPr sz="1000">
                          <a:solidFill>
                            <a:srgbClr val="0F172A"/>
                          </a:solidFill>
                        </a:defRPr>
                      </a:pPr>
                      <a:r>
                        <a:t>Direct Classical Head</a:t>
                      </a:r>
                    </a:p>
                  </a:txBody>
                  <a:tcPr>
                    <a:solidFill>
                      <a:srgbClr val="F8FAFC"/>
                    </a:solidFill>
                  </a:tcPr>
                </a:tc>
                <a:tc>
                  <a:txBody>
                    <a:bodyPr/>
                    <a:lstStyle/>
                    <a:p>
                      <a:pPr>
                        <a:defRPr sz="1000">
                          <a:solidFill>
                            <a:srgbClr val="0F172A"/>
                          </a:solidFill>
                        </a:defRPr>
                      </a:pPr>
                      <a:r>
                        <a:t>6,405</a:t>
                      </a:r>
                    </a:p>
                  </a:txBody>
                  <a:tcPr>
                    <a:solidFill>
                      <a:srgbClr val="F8FAFC"/>
                    </a:solidFill>
                  </a:tcPr>
                </a:tc>
                <a:tc>
                  <a:txBody>
                    <a:bodyPr/>
                    <a:lstStyle/>
                    <a:p>
                      <a:pPr>
                        <a:defRPr sz="1000">
                          <a:solidFill>
                            <a:srgbClr val="0F172A"/>
                          </a:solidFill>
                        </a:defRPr>
                      </a:pPr>
                      <a:r>
                        <a:t>77.27%</a:t>
                      </a:r>
                    </a:p>
                  </a:txBody>
                  <a:tcPr>
                    <a:solidFill>
                      <a:srgbClr val="F8FAFC"/>
                    </a:solidFill>
                  </a:tcPr>
                </a:tc>
                <a:tc>
                  <a:txBody>
                    <a:bodyPr/>
                    <a:lstStyle/>
                    <a:p>
                      <a:pPr>
                        <a:defRPr sz="1000">
                          <a:solidFill>
                            <a:srgbClr val="0F172A"/>
                          </a:solidFill>
                        </a:defRPr>
                      </a:pPr>
                      <a:r>
                        <a:t>0.6187</a:t>
                      </a:r>
                    </a:p>
                  </a:txBody>
                  <a:tcPr>
                    <a:solidFill>
                      <a:srgbClr val="F8FAFC"/>
                    </a:solidFill>
                  </a:tcPr>
                </a:tc>
                <a:tc>
                  <a:txBody>
                    <a:bodyPr/>
                    <a:lstStyle/>
                    <a:p>
                      <a:pPr>
                        <a:defRPr sz="1000">
                          <a:solidFill>
                            <a:srgbClr val="0F172A"/>
                          </a:solidFill>
                        </a:defRPr>
                      </a:pPr>
                      <a:r>
                        <a:t>0.8719</a:t>
                      </a:r>
                    </a:p>
                  </a:txBody>
                  <a:tcPr>
                    <a:solidFill>
                      <a:srgbClr val="F8FAFC"/>
                    </a:solidFill>
                  </a:tcPr>
                </a:tc>
                <a:tc>
                  <a:txBody>
                    <a:bodyPr/>
                    <a:lstStyle/>
                    <a:p>
                      <a:pPr>
                        <a:defRPr sz="1000">
                          <a:solidFill>
                            <a:srgbClr val="0F172A"/>
                          </a:solidFill>
                        </a:defRPr>
                      </a:pPr>
                      <a:r>
                        <a:t>3.61 ms</a:t>
                      </a:r>
                    </a:p>
                  </a:txBody>
                  <a:tcPr>
                    <a:solidFill>
                      <a:srgbClr val="F8FAFC"/>
                    </a:solidFill>
                  </a:tcPr>
                </a:tc>
              </a:tr>
              <a:tr h="470262">
                <a:tc>
                  <a:txBody>
                    <a:bodyPr/>
                    <a:lstStyle/>
                    <a:p>
                      <a:pPr>
                        <a:defRPr sz="1000">
                          <a:solidFill>
                            <a:srgbClr val="0F172A"/>
                          </a:solidFill>
                        </a:defRPr>
                      </a:pPr>
                      <a:r>
                        <a:t>HQNN (4Q, Autoencoder)</a:t>
                      </a:r>
                    </a:p>
                  </a:txBody>
                  <a:tcPr>
                    <a:solidFill>
                      <a:srgbClr val="CCFBF1"/>
                    </a:solidFill>
                  </a:tcPr>
                </a:tc>
                <a:tc>
                  <a:txBody>
                    <a:bodyPr/>
                    <a:lstStyle/>
                    <a:p>
                      <a:pPr>
                        <a:defRPr sz="1000">
                          <a:solidFill>
                            <a:srgbClr val="0F172A"/>
                          </a:solidFill>
                        </a:defRPr>
                      </a:pPr>
                      <a:r>
                        <a:t>Deep 3-Layer AE</a:t>
                      </a:r>
                    </a:p>
                  </a:txBody>
                  <a:tcPr>
                    <a:solidFill>
                      <a:srgbClr val="CCFBF1"/>
                    </a:solidFill>
                  </a:tcPr>
                </a:tc>
                <a:tc>
                  <a:txBody>
                    <a:bodyPr/>
                    <a:lstStyle/>
                    <a:p>
                      <a:pPr>
                        <a:defRPr sz="1000">
                          <a:solidFill>
                            <a:srgbClr val="0F172A"/>
                          </a:solidFill>
                        </a:defRPr>
                      </a:pPr>
                      <a:r>
                        <a:t>297,897 (12 Q)</a:t>
                      </a:r>
                    </a:p>
                  </a:txBody>
                  <a:tcPr>
                    <a:solidFill>
                      <a:srgbClr val="CCFBF1"/>
                    </a:solidFill>
                  </a:tcPr>
                </a:tc>
                <a:tc>
                  <a:txBody>
                    <a:bodyPr/>
                    <a:lstStyle/>
                    <a:p>
                      <a:pPr>
                        <a:defRPr sz="1000">
                          <a:solidFill>
                            <a:srgbClr val="0F172A"/>
                          </a:solidFill>
                        </a:defRPr>
                      </a:pPr>
                      <a:r>
                        <a:t>59.64%</a:t>
                      </a:r>
                    </a:p>
                  </a:txBody>
                  <a:tcPr>
                    <a:solidFill>
                      <a:srgbClr val="CCFBF1"/>
                    </a:solidFill>
                  </a:tcPr>
                </a:tc>
                <a:tc>
                  <a:txBody>
                    <a:bodyPr/>
                    <a:lstStyle/>
                    <a:p>
                      <a:pPr>
                        <a:defRPr sz="1000">
                          <a:solidFill>
                            <a:srgbClr val="0F172A"/>
                          </a:solidFill>
                        </a:defRPr>
                      </a:pPr>
                      <a:r>
                        <a:t>0.4182</a:t>
                      </a:r>
                    </a:p>
                  </a:txBody>
                  <a:tcPr>
                    <a:solidFill>
                      <a:srgbClr val="CCFBF1"/>
                    </a:solidFill>
                  </a:tcPr>
                </a:tc>
                <a:tc>
                  <a:txBody>
                    <a:bodyPr/>
                    <a:lstStyle/>
                    <a:p>
                      <a:pPr>
                        <a:defRPr sz="1000" b="1">
                          <a:solidFill>
                            <a:srgbClr val="0D9488"/>
                          </a:solidFill>
                        </a:defRPr>
                      </a:pPr>
                      <a:r>
                        <a:t>0.7693 (Best)</a:t>
                      </a:r>
                    </a:p>
                  </a:txBody>
                  <a:tcPr>
                    <a:solidFill>
                      <a:srgbClr val="CCFBF1"/>
                    </a:solidFill>
                  </a:tcPr>
                </a:tc>
                <a:tc>
                  <a:txBody>
                    <a:bodyPr/>
                    <a:lstStyle/>
                    <a:p>
                      <a:pPr>
                        <a:defRPr sz="1000">
                          <a:solidFill>
                            <a:srgbClr val="0F172A"/>
                          </a:solidFill>
                        </a:defRPr>
                      </a:pPr>
                      <a:r>
                        <a:t>1.40 ms</a:t>
                      </a:r>
                    </a:p>
                  </a:txBody>
                  <a:tcPr>
                    <a:solidFill>
                      <a:srgbClr val="CCFBF1"/>
                    </a:solidFill>
                  </a:tcPr>
                </a:tc>
              </a:tr>
              <a:tr h="470262">
                <a:tc>
                  <a:txBody>
                    <a:bodyPr/>
                    <a:lstStyle/>
                    <a:p>
                      <a:pPr>
                        <a:defRPr sz="1000">
                          <a:solidFill>
                            <a:srgbClr val="0F172A"/>
                          </a:solidFill>
                        </a:defRPr>
                      </a:pPr>
                      <a:r>
                        <a:t>HQNN (4Q, Linear)</a:t>
                      </a:r>
                    </a:p>
                  </a:txBody>
                  <a:tcPr>
                    <a:solidFill>
                      <a:srgbClr val="F8FAFC"/>
                    </a:solidFill>
                  </a:tcPr>
                </a:tc>
                <a:tc>
                  <a:txBody>
                    <a:bodyPr/>
                    <a:lstStyle/>
                    <a:p>
                      <a:pPr>
                        <a:defRPr sz="1000">
                          <a:solidFill>
                            <a:srgbClr val="0F172A"/>
                          </a:solidFill>
                        </a:defRPr>
                      </a:pPr>
                      <a:r>
                        <a:t>Bottleneck Linear</a:t>
                      </a:r>
                    </a:p>
                  </a:txBody>
                  <a:tcPr>
                    <a:solidFill>
                      <a:srgbClr val="F8FAFC"/>
                    </a:solidFill>
                  </a:tcPr>
                </a:tc>
                <a:tc>
                  <a:txBody>
                    <a:bodyPr/>
                    <a:lstStyle/>
                    <a:p>
                      <a:pPr>
                        <a:defRPr sz="1000">
                          <a:solidFill>
                            <a:srgbClr val="0F172A"/>
                          </a:solidFill>
                        </a:defRPr>
                      </a:pPr>
                      <a:r>
                        <a:t>2,089 (12 Q)</a:t>
                      </a:r>
                    </a:p>
                  </a:txBody>
                  <a:tcPr>
                    <a:solidFill>
                      <a:srgbClr val="F8FAFC"/>
                    </a:solidFill>
                  </a:tcPr>
                </a:tc>
                <a:tc>
                  <a:txBody>
                    <a:bodyPr/>
                    <a:lstStyle/>
                    <a:p>
                      <a:pPr>
                        <a:defRPr sz="1000">
                          <a:solidFill>
                            <a:srgbClr val="0F172A"/>
                          </a:solidFill>
                        </a:defRPr>
                      </a:pPr>
                      <a:r>
                        <a:t>58.12%</a:t>
                      </a:r>
                    </a:p>
                  </a:txBody>
                  <a:tcPr>
                    <a:solidFill>
                      <a:srgbClr val="F8FAFC"/>
                    </a:solidFill>
                  </a:tcPr>
                </a:tc>
                <a:tc>
                  <a:txBody>
                    <a:bodyPr/>
                    <a:lstStyle/>
                    <a:p>
                      <a:pPr>
                        <a:defRPr sz="1000">
                          <a:solidFill>
                            <a:srgbClr val="0F172A"/>
                          </a:solidFill>
                        </a:defRPr>
                      </a:pPr>
                      <a:r>
                        <a:t>0.3840</a:t>
                      </a:r>
                    </a:p>
                  </a:txBody>
                  <a:tcPr>
                    <a:solidFill>
                      <a:srgbClr val="F8FAFC"/>
                    </a:solidFill>
                  </a:tcPr>
                </a:tc>
                <a:tc>
                  <a:txBody>
                    <a:bodyPr/>
                    <a:lstStyle/>
                    <a:p>
                      <a:pPr>
                        <a:defRPr sz="1000">
                          <a:solidFill>
                            <a:srgbClr val="0F172A"/>
                          </a:solidFill>
                        </a:defRPr>
                      </a:pPr>
                      <a:r>
                        <a:t>0.7611</a:t>
                      </a:r>
                    </a:p>
                  </a:txBody>
                  <a:tcPr>
                    <a:solidFill>
                      <a:srgbClr val="F8FAFC"/>
                    </a:solidFill>
                  </a:tcPr>
                </a:tc>
                <a:tc>
                  <a:txBody>
                    <a:bodyPr/>
                    <a:lstStyle/>
                    <a:p>
                      <a:pPr>
                        <a:defRPr sz="1000">
                          <a:solidFill>
                            <a:srgbClr val="0F172A"/>
                          </a:solidFill>
                        </a:defRPr>
                      </a:pPr>
                      <a:r>
                        <a:t>1.15 ms</a:t>
                      </a:r>
                    </a:p>
                  </a:txBody>
                  <a:tcPr>
                    <a:solidFill>
                      <a:srgbClr val="F8FAFC"/>
                    </a:solidFill>
                  </a:tcPr>
                </a:tc>
              </a:tr>
              <a:tr h="470262">
                <a:tc>
                  <a:txBody>
                    <a:bodyPr/>
                    <a:lstStyle/>
                    <a:p>
                      <a:pPr>
                        <a:defRPr sz="1000">
                          <a:solidFill>
                            <a:srgbClr val="0F172A"/>
                          </a:solidFill>
                        </a:defRPr>
                      </a:pPr>
                      <a:r>
                        <a:t>HQNN (8Q, Linear)</a:t>
                      </a:r>
                    </a:p>
                  </a:txBody>
                  <a:tcPr>
                    <a:solidFill>
                      <a:srgbClr val="FFFFFF"/>
                    </a:solidFill>
                  </a:tcPr>
                </a:tc>
                <a:tc>
                  <a:txBody>
                    <a:bodyPr/>
                    <a:lstStyle/>
                    <a:p>
                      <a:pPr>
                        <a:defRPr sz="1000">
                          <a:solidFill>
                            <a:srgbClr val="0F172A"/>
                          </a:solidFill>
                        </a:defRPr>
                      </a:pPr>
                      <a:r>
                        <a:t>Bottleneck Linear</a:t>
                      </a:r>
                    </a:p>
                  </a:txBody>
                  <a:tcPr>
                    <a:solidFill>
                      <a:srgbClr val="FFFFFF"/>
                    </a:solidFill>
                  </a:tcPr>
                </a:tc>
                <a:tc>
                  <a:txBody>
                    <a:bodyPr/>
                    <a:lstStyle/>
                    <a:p>
                      <a:pPr>
                        <a:defRPr sz="1000">
                          <a:solidFill>
                            <a:srgbClr val="0F172A"/>
                          </a:solidFill>
                        </a:defRPr>
                      </a:pPr>
                      <a:r>
                        <a:t>4,173 (24 Q)</a:t>
                      </a:r>
                    </a:p>
                  </a:txBody>
                  <a:tcPr>
                    <a:solidFill>
                      <a:srgbClr val="FFFFFF"/>
                    </a:solidFill>
                  </a:tcPr>
                </a:tc>
                <a:tc>
                  <a:txBody>
                    <a:bodyPr/>
                    <a:lstStyle/>
                    <a:p>
                      <a:pPr>
                        <a:defRPr sz="1000">
                          <a:solidFill>
                            <a:srgbClr val="0F172A"/>
                          </a:solidFill>
                        </a:defRPr>
                      </a:pPr>
                      <a:r>
                        <a:t>67.82%</a:t>
                      </a:r>
                    </a:p>
                  </a:txBody>
                  <a:tcPr>
                    <a:solidFill>
                      <a:srgbClr val="FFFFFF"/>
                    </a:solidFill>
                  </a:tcPr>
                </a:tc>
                <a:tc>
                  <a:txBody>
                    <a:bodyPr/>
                    <a:lstStyle/>
                    <a:p>
                      <a:pPr>
                        <a:defRPr sz="1000">
                          <a:solidFill>
                            <a:srgbClr val="0F172A"/>
                          </a:solidFill>
                        </a:defRPr>
                      </a:pPr>
                      <a:r>
                        <a:t>0.3269</a:t>
                      </a:r>
                    </a:p>
                  </a:txBody>
                  <a:tcPr>
                    <a:solidFill>
                      <a:srgbClr val="FFFFFF"/>
                    </a:solidFill>
                  </a:tcPr>
                </a:tc>
                <a:tc>
                  <a:txBody>
                    <a:bodyPr/>
                    <a:lstStyle/>
                    <a:p>
                      <a:pPr>
                        <a:defRPr sz="1000">
                          <a:solidFill>
                            <a:srgbClr val="0F172A"/>
                          </a:solidFill>
                        </a:defRPr>
                      </a:pPr>
                      <a:r>
                        <a:t>0.6376</a:t>
                      </a:r>
                    </a:p>
                  </a:txBody>
                  <a:tcPr>
                    <a:solidFill>
                      <a:srgbClr val="FFFFFF"/>
                    </a:solidFill>
                  </a:tcPr>
                </a:tc>
                <a:tc>
                  <a:txBody>
                    <a:bodyPr/>
                    <a:lstStyle/>
                    <a:p>
                      <a:pPr>
                        <a:defRPr sz="1000">
                          <a:solidFill>
                            <a:srgbClr val="0F172A"/>
                          </a:solidFill>
                        </a:defRPr>
                      </a:pPr>
                      <a:r>
                        <a:t>2.47 ms</a:t>
                      </a:r>
                    </a:p>
                  </a:txBody>
                  <a:tcPr>
                    <a:solidFill>
                      <a:srgbClr val="FFFFFF"/>
                    </a:solidFill>
                  </a:tcPr>
                </a:tc>
              </a:tr>
              <a:tr h="470268">
                <a:tc>
                  <a:txBody>
                    <a:bodyPr/>
                    <a:lstStyle/>
                    <a:p>
                      <a:pPr>
                        <a:defRPr sz="1000">
                          <a:solidFill>
                            <a:srgbClr val="0F172A"/>
                          </a:solidFill>
                        </a:defRPr>
                      </a:pPr>
                      <a:r>
                        <a:t>HQNN (4Q, PCA)</a:t>
                      </a:r>
                    </a:p>
                  </a:txBody>
                  <a:tcPr>
                    <a:solidFill>
                      <a:srgbClr val="F8FAFC"/>
                    </a:solidFill>
                  </a:tcPr>
                </a:tc>
                <a:tc>
                  <a:txBody>
                    <a:bodyPr/>
                    <a:lstStyle/>
                    <a:p>
                      <a:pPr>
                        <a:defRPr sz="1000">
                          <a:solidFill>
                            <a:srgbClr val="0F172A"/>
                          </a:solidFill>
                        </a:defRPr>
                      </a:pPr>
                      <a:r>
                        <a:t>Fixed Statistical PCA</a:t>
                      </a:r>
                    </a:p>
                  </a:txBody>
                  <a:tcPr>
                    <a:solidFill>
                      <a:srgbClr val="F8FAFC"/>
                    </a:solidFill>
                  </a:tcPr>
                </a:tc>
                <a:tc>
                  <a:txBody>
                    <a:bodyPr/>
                    <a:lstStyle/>
                    <a:p>
                      <a:pPr>
                        <a:defRPr sz="1000">
                          <a:solidFill>
                            <a:srgbClr val="0F172A"/>
                          </a:solidFill>
                        </a:defRPr>
                      </a:pPr>
                      <a:r>
                        <a:t>37 Total</a:t>
                      </a:r>
                    </a:p>
                  </a:txBody>
                  <a:tcPr>
                    <a:solidFill>
                      <a:srgbClr val="F8FAFC"/>
                    </a:solidFill>
                  </a:tcPr>
                </a:tc>
                <a:tc>
                  <a:txBody>
                    <a:bodyPr/>
                    <a:lstStyle/>
                    <a:p>
                      <a:pPr>
                        <a:defRPr sz="1000">
                          <a:solidFill>
                            <a:srgbClr val="0F172A"/>
                          </a:solidFill>
                        </a:defRPr>
                      </a:pPr>
                      <a:r>
                        <a:t>14.00%</a:t>
                      </a:r>
                    </a:p>
                  </a:txBody>
                  <a:tcPr>
                    <a:solidFill>
                      <a:srgbClr val="F8FAFC"/>
                    </a:solidFill>
                  </a:tcPr>
                </a:tc>
                <a:tc>
                  <a:txBody>
                    <a:bodyPr/>
                    <a:lstStyle/>
                    <a:p>
                      <a:pPr>
                        <a:defRPr sz="1000">
                          <a:solidFill>
                            <a:srgbClr val="0F172A"/>
                          </a:solidFill>
                        </a:defRPr>
                      </a:pPr>
                      <a:r>
                        <a:t>0.1242</a:t>
                      </a:r>
                    </a:p>
                  </a:txBody>
                  <a:tcPr>
                    <a:solidFill>
                      <a:srgbClr val="F8FAFC"/>
                    </a:solidFill>
                  </a:tcPr>
                </a:tc>
                <a:tc>
                  <a:txBody>
                    <a:bodyPr/>
                    <a:lstStyle/>
                    <a:p>
                      <a:pPr>
                        <a:defRPr sz="1000">
                          <a:solidFill>
                            <a:srgbClr val="0F172A"/>
                          </a:solidFill>
                        </a:defRPr>
                      </a:pPr>
                      <a:r>
                        <a:t>0.1379</a:t>
                      </a:r>
                    </a:p>
                  </a:txBody>
                  <a:tcPr>
                    <a:solidFill>
                      <a:srgbClr val="F8FAFC"/>
                    </a:solidFill>
                  </a:tcPr>
                </a:tc>
                <a:tc>
                  <a:txBody>
                    <a:bodyPr/>
                    <a:lstStyle/>
                    <a:p>
                      <a:pPr>
                        <a:defRPr sz="1000">
                          <a:solidFill>
                            <a:srgbClr val="0F172A"/>
                          </a:solidFill>
                        </a:defRPr>
                      </a:pPr>
                      <a:r>
                        <a:t>0.62 ms</a:t>
                      </a:r>
                    </a:p>
                  </a:txBody>
                  <a:tcPr>
                    <a:solidFill>
                      <a:srgbClr val="F8FAFC"/>
                    </a:solidFill>
                  </a:tcPr>
                </a:tc>
              </a:tr>
            </a:tbl>
          </a:graphicData>
        </a:graphic>
      </p:graphicFrame>
      <p:sp>
        <p:nvSpPr>
          <p:cNvPr id="7" name="Rounded Rectangle 6"/>
          <p:cNvSpPr/>
          <p:nvPr/>
        </p:nvSpPr>
        <p:spPr>
          <a:xfrm>
            <a:off x="731520" y="4754880"/>
            <a:ext cx="10725912" cy="146304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846320"/>
            <a:ext cx="10360152" cy="1280160"/>
          </a:xfrm>
          <a:prstGeom prst="rect">
            <a:avLst/>
          </a:prstGeom>
          <a:noFill/>
        </p:spPr>
        <p:txBody>
          <a:bodyPr wrap="square">
            <a:spAutoFit/>
          </a:bodyPr>
          <a:lstStyle/>
          <a:p>
            <a:pPr>
              <a:defRPr sz="1200" b="1">
                <a:solidFill>
                  <a:srgbClr val="1E3A8A"/>
                </a:solidFill>
              </a:defRPr>
            </a:pPr>
            <a:r>
              <a:t>Key Verified Takeaways from Test Evaluation:</a:t>
            </a:r>
          </a:p>
          <a:p>
            <a:pPr>
              <a:spcBef>
                <a:spcPts val="200"/>
              </a:spcBef>
              <a:defRPr sz="1050">
                <a:solidFill>
                  <a:srgbClr val="0F172A"/>
                </a:solidFill>
              </a:defRPr>
            </a:pPr>
            <a:r>
              <a:t>1. Autoencoder State Prep Wins: Reached QWK 0.7693 and AUC-ROC 0.8716, proving non-linear manifold learning preserves subtle microaneurysms before angle mapping.</a:t>
            </a:r>
          </a:p>
          <a:p>
            <a:pPr>
              <a:spcBef>
                <a:spcPts val="200"/>
              </a:spcBef>
              <a:defRPr sz="1050">
                <a:solidFill>
                  <a:srgbClr val="0F172A"/>
                </a:solidFill>
              </a:defRPr>
            </a:pPr>
            <a:r>
              <a:t>2. Extreme Parameter Efficiency: The 4-qubit Linear model achieved QWK 0.7611 with only 12 quantum circuit parameters.</a:t>
            </a:r>
          </a:p>
          <a:p>
            <a:pPr>
              <a:spcBef>
                <a:spcPts val="200"/>
              </a:spcBef>
              <a:defRPr sz="1050">
                <a:solidFill>
                  <a:srgbClr val="0F172A"/>
                </a:solidFill>
              </a:defRPr>
            </a:pPr>
            <a:r>
              <a:t>3. Training Speed Acceleration: Caching 512-d features reduced epoch training time from 45 minutes to 12 seconds per epoch.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PROJECT STATUS &amp; PROGRESS</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Mid-Semester Percentage Completion &amp; Phase 4 Roadmap</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19"/>
            <a:ext cx="4846320" cy="2011680"/>
          </a:xfrm>
          <a:prstGeom prst="rect">
            <a:avLst/>
          </a:prstGeom>
          <a:noFill/>
        </p:spPr>
        <p:txBody>
          <a:bodyPr wrap="square">
            <a:spAutoFit/>
          </a:bodyPr>
          <a:lstStyle/>
          <a:p>
            <a:pPr>
              <a:defRPr sz="1200" b="1">
                <a:solidFill>
                  <a:srgbClr val="16A34A"/>
                </a:solidFill>
              </a:defRPr>
            </a:pPr>
            <a:r>
              <a:t>Phase 1: Data &amp; Clinical Preprocessing [100% COMPLETE]</a:t>
            </a:r>
          </a:p>
          <a:p>
            <a:pPr>
              <a:spcBef>
                <a:spcPts val="300"/>
              </a:spcBef>
              <a:defRPr sz="1000">
                <a:solidFill>
                  <a:srgbClr val="0F172A"/>
                </a:solidFill>
              </a:defRPr>
            </a:pPr>
            <a:r>
              <a:t>✔ Ingestion of 3,662 APTOS 2019 retinal fundus images.</a:t>
            </a:r>
          </a:p>
          <a:p>
            <a:pPr>
              <a:spcBef>
                <a:spcPts val="300"/>
              </a:spcBef>
              <a:defRPr sz="1000">
                <a:solidFill>
                  <a:srgbClr val="0F172A"/>
                </a:solidFill>
              </a:defRPr>
            </a:pPr>
            <a:r>
              <a:t>✔ Stratified 70/15/15 train/val/test split generation.</a:t>
            </a:r>
          </a:p>
          <a:p>
            <a:pPr>
              <a:spcBef>
                <a:spcPts val="300"/>
              </a:spcBef>
              <a:defRPr sz="1000">
                <a:solidFill>
                  <a:srgbClr val="0F172A"/>
                </a:solidFill>
              </a:defRPr>
            </a:pPr>
            <a:r>
              <a:t>✔ Ben Graham circular crop and green-channel CLAHE at 224x224.</a:t>
            </a:r>
          </a:p>
          <a:p>
            <a:pPr>
              <a:spcBef>
                <a:spcPts val="300"/>
              </a:spcBef>
              <a:defRPr sz="1000">
                <a:solidFill>
                  <a:srgbClr val="0F172A"/>
                </a:solidFill>
              </a:defRPr>
            </a:pPr>
            <a:r>
              <a:t>✔ Visual verification artifacts generated in reports/preprocessing_samples/.</a:t>
            </a:r>
          </a:p>
        </p:txBody>
      </p:sp>
      <p:sp>
        <p:nvSpPr>
          <p:cNvPr id="8" name="Rounded Rectangle 7"/>
          <p:cNvSpPr/>
          <p:nvPr/>
        </p:nvSpPr>
        <p:spPr>
          <a:xfrm>
            <a:off x="6217920" y="128016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19"/>
            <a:ext cx="4846320" cy="2011680"/>
          </a:xfrm>
          <a:prstGeom prst="rect">
            <a:avLst/>
          </a:prstGeom>
          <a:noFill/>
        </p:spPr>
        <p:txBody>
          <a:bodyPr wrap="square">
            <a:spAutoFit/>
          </a:bodyPr>
          <a:lstStyle/>
          <a:p>
            <a:pPr>
              <a:defRPr sz="1200" b="1">
                <a:solidFill>
                  <a:srgbClr val="16A34A"/>
                </a:solidFill>
              </a:defRPr>
            </a:pPr>
            <a:r>
              <a:t>Phase 2: Classical Baselines &amp; Loss [100% COMPLETE]</a:t>
            </a:r>
          </a:p>
          <a:p>
            <a:pPr>
              <a:spcBef>
                <a:spcPts val="300"/>
              </a:spcBef>
              <a:defRPr sz="1000">
                <a:solidFill>
                  <a:srgbClr val="0F172A"/>
                </a:solidFill>
              </a:defRPr>
            </a:pPr>
            <a:r>
              <a:t>✔ ResNet18 baseline trained (Accuracy: 81.27%, QWK: 0.8721).</a:t>
            </a:r>
          </a:p>
          <a:p>
            <a:pPr>
              <a:spcBef>
                <a:spcPts val="300"/>
              </a:spcBef>
              <a:defRPr sz="1000">
                <a:solidFill>
                  <a:srgbClr val="0F172A"/>
                </a:solidFill>
              </a:defRPr>
            </a:pPr>
            <a:r>
              <a:t>✔ MobileNetV2 baseline trained (Accuracy: 77.27%, QWK: 0.8719).</a:t>
            </a:r>
          </a:p>
          <a:p>
            <a:pPr>
              <a:spcBef>
                <a:spcPts val="300"/>
              </a:spcBef>
              <a:defRPr sz="1000">
                <a:solidFill>
                  <a:srgbClr val="0F172A"/>
                </a:solidFill>
              </a:defRPr>
            </a:pPr>
            <a:r>
              <a:t>✔ Class-weighted Focal Loss (gamma=2.0) implemented and verified.</a:t>
            </a:r>
          </a:p>
          <a:p>
            <a:pPr>
              <a:spcBef>
                <a:spcPts val="300"/>
              </a:spcBef>
              <a:defRPr sz="1000">
                <a:solidFill>
                  <a:srgbClr val="0F172A"/>
                </a:solidFill>
              </a:defRPr>
            </a:pPr>
            <a:r>
              <a:t>✔ Feature extraction and disk caching pipeline operational.</a:t>
            </a:r>
          </a:p>
        </p:txBody>
      </p:sp>
      <p:sp>
        <p:nvSpPr>
          <p:cNvPr id="10" name="Rounded Rectangle 9"/>
          <p:cNvSpPr/>
          <p:nvPr/>
        </p:nvSpPr>
        <p:spPr>
          <a:xfrm>
            <a:off x="731520" y="3749039"/>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86200"/>
            <a:ext cx="4846320" cy="2011680"/>
          </a:xfrm>
          <a:prstGeom prst="rect">
            <a:avLst/>
          </a:prstGeom>
          <a:noFill/>
        </p:spPr>
        <p:txBody>
          <a:bodyPr wrap="square">
            <a:spAutoFit/>
          </a:bodyPr>
          <a:lstStyle/>
          <a:p>
            <a:pPr>
              <a:defRPr sz="1200" b="1">
                <a:solidFill>
                  <a:srgbClr val="16A34A"/>
                </a:solidFill>
              </a:defRPr>
            </a:pPr>
            <a:r>
              <a:t>Phase 3: Quantum Circuits &amp; Hybrids [100% COMPLETE]</a:t>
            </a:r>
          </a:p>
          <a:p>
            <a:pPr>
              <a:spcBef>
                <a:spcPts val="300"/>
              </a:spcBef>
              <a:defRPr sz="1000">
                <a:solidFill>
                  <a:srgbClr val="0F172A"/>
                </a:solidFill>
              </a:defRPr>
            </a:pPr>
            <a:r>
              <a:t>✔ PennyLane StronglyEntanglingLayers circuits (4 &amp; 8 qubits) built.</a:t>
            </a:r>
          </a:p>
          <a:p>
            <a:pPr>
              <a:spcBef>
                <a:spcPts val="300"/>
              </a:spcBef>
              <a:defRPr sz="1000">
                <a:solidFill>
                  <a:srgbClr val="0F172A"/>
                </a:solidFill>
              </a:defRPr>
            </a:pPr>
            <a:r>
              <a:t>✔ 3 Compression modules (Linear, Autoencoder, PCA) implemented.</a:t>
            </a:r>
          </a:p>
          <a:p>
            <a:pPr>
              <a:spcBef>
                <a:spcPts val="300"/>
              </a:spcBef>
              <a:defRPr sz="1000">
                <a:solidFill>
                  <a:srgbClr val="0F172A"/>
                </a:solidFill>
              </a:defRPr>
            </a:pPr>
            <a:r>
              <a:t>✔ All 4 hybrid models trained and evaluated on held-out test split.</a:t>
            </a:r>
          </a:p>
          <a:p>
            <a:pPr>
              <a:spcBef>
                <a:spcPts val="300"/>
              </a:spcBef>
              <a:defRPr sz="1000">
                <a:solidFill>
                  <a:srgbClr val="0F172A"/>
                </a:solidFill>
              </a:defRPr>
            </a:pPr>
            <a:r>
              <a:t>✔ Head-to-head empirical benchmark matrix compiled in reports/.</a:t>
            </a:r>
          </a:p>
        </p:txBody>
      </p:sp>
      <p:sp>
        <p:nvSpPr>
          <p:cNvPr id="12" name="Rounded Rectangle 11"/>
          <p:cNvSpPr/>
          <p:nvPr/>
        </p:nvSpPr>
        <p:spPr>
          <a:xfrm>
            <a:off x="6217920" y="3749039"/>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886200"/>
            <a:ext cx="4846320" cy="2011680"/>
          </a:xfrm>
          <a:prstGeom prst="rect">
            <a:avLst/>
          </a:prstGeom>
          <a:noFill/>
        </p:spPr>
        <p:txBody>
          <a:bodyPr wrap="square">
            <a:spAutoFit/>
          </a:bodyPr>
          <a:lstStyle/>
          <a:p>
            <a:pPr>
              <a:defRPr sz="1200" b="1">
                <a:solidFill>
                  <a:srgbClr val="1E3A8A"/>
                </a:solidFill>
              </a:defRPr>
            </a:pPr>
            <a:r>
              <a:t>Phase 4: Hardware Noise &amp; Deployment [PLANNED (0% -&gt; 100% by End-Sem)]</a:t>
            </a:r>
          </a:p>
          <a:p>
            <a:pPr>
              <a:spcBef>
                <a:spcPts val="300"/>
              </a:spcBef>
              <a:defRPr sz="1000">
                <a:solidFill>
                  <a:srgbClr val="0F172A"/>
                </a:solidFill>
              </a:defRPr>
            </a:pPr>
            <a:r>
              <a:t>• Milestone 4.1: Qiskit Aer depolarizing and thermal relaxation noise sweeps.</a:t>
            </a:r>
          </a:p>
          <a:p>
            <a:pPr>
              <a:spcBef>
                <a:spcPts val="300"/>
              </a:spcBef>
              <a:defRPr sz="1000">
                <a:solidFill>
                  <a:srgbClr val="0F172A"/>
                </a:solidFill>
              </a:defRPr>
            </a:pPr>
            <a:r>
              <a:t>• Milestone 4.2: Execution on real IBM Quantum hardware (ibm_brisbane).</a:t>
            </a:r>
          </a:p>
          <a:p>
            <a:pPr>
              <a:spcBef>
                <a:spcPts val="300"/>
              </a:spcBef>
              <a:defRPr sz="1000">
                <a:solidFill>
                  <a:srgbClr val="0F172A"/>
                </a:solidFill>
              </a:defRPr>
            </a:pPr>
            <a:r>
              <a:t>• Milestone 4.3: Clinical Streamlit web application deployment.</a:t>
            </a:r>
          </a:p>
          <a:p>
            <a:pPr>
              <a:spcBef>
                <a:spcPts val="300"/>
              </a:spcBef>
              <a:defRPr sz="1000">
                <a:solidFill>
                  <a:srgbClr val="0F172A"/>
                </a:solidFill>
              </a:defRPr>
            </a:pPr>
            <a:r>
              <a:t>• Milestone 4.4: Final IEEE conference manuscript and viva defense.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none">
            <a:spAutoFit/>
          </a:bodyPr>
          <a:lstStyle/>
          <a:p>
            <a:pPr>
              <a:defRPr sz="1100" b="1">
                <a:solidFill>
                  <a:srgbClr val="0D9488"/>
                </a:solidFill>
              </a:defRPr>
            </a:pPr>
            <a:r>
              <a:t>SCHOLARLY REFERENCES</a:t>
            </a:r>
          </a:p>
        </p:txBody>
      </p:sp>
      <p:sp>
        <p:nvSpPr>
          <p:cNvPr id="4" name="TextBox 3"/>
          <p:cNvSpPr txBox="1"/>
          <p:nvPr/>
        </p:nvSpPr>
        <p:spPr>
          <a:xfrm>
            <a:off x="731520" y="365760"/>
            <a:ext cx="10698480" cy="502920"/>
          </a:xfrm>
          <a:prstGeom prst="rect">
            <a:avLst/>
          </a:prstGeom>
          <a:noFill/>
        </p:spPr>
        <p:txBody>
          <a:bodyPr wrap="none">
            <a:spAutoFit/>
          </a:bodyPr>
          <a:lstStyle/>
          <a:p>
            <a:pPr>
              <a:defRPr sz="2200" b="1">
                <a:solidFill>
                  <a:srgbClr val="FFFFFF"/>
                </a:solidFill>
              </a:defRPr>
            </a:pPr>
            <a:r>
              <a:t>References &amp; Literature Citations</a:t>
            </a:r>
          </a:p>
        </p:txBody>
      </p:sp>
      <p:sp>
        <p:nvSpPr>
          <p:cNvPr id="5" name="TextBox 4"/>
          <p:cNvSpPr txBox="1"/>
          <p:nvPr/>
        </p:nvSpPr>
        <p:spPr>
          <a:xfrm>
            <a:off x="731520" y="6492240"/>
            <a:ext cx="10698480" cy="274320"/>
          </a:xfrm>
          <a:prstGeom prst="rect">
            <a:avLst/>
          </a:prstGeom>
          <a:noFill/>
        </p:spPr>
        <p:txBody>
          <a:bodyPr wrap="none">
            <a:spAutoFit/>
          </a:bodyPr>
          <a:lstStyle/>
          <a:p>
            <a:pPr>
              <a:defRPr sz="900">
                <a:solidFill>
                  <a:srgbClr val="475569"/>
                </a:solidFill>
              </a:defRPr>
            </a:pPr>
            <a:r>
              <a:t>EDI Mid-Semester Assessment | Project ID: ERI 5 / TY_CSE_10 | HQNN for Retinal Disease Classification</a:t>
            </a:r>
          </a:p>
        </p:txBody>
      </p:sp>
      <p:sp>
        <p:nvSpPr>
          <p:cNvPr id="6" name="Rounded Rectangle 5"/>
          <p:cNvSpPr/>
          <p:nvPr/>
        </p:nvSpPr>
        <p:spPr>
          <a:xfrm>
            <a:off x="731520" y="1280160"/>
            <a:ext cx="10725912"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10360152" cy="4572000"/>
          </a:xfrm>
          <a:prstGeom prst="rect">
            <a:avLst/>
          </a:prstGeom>
          <a:noFill/>
        </p:spPr>
        <p:txBody>
          <a:bodyPr wrap="square">
            <a:spAutoFit/>
          </a:bodyPr>
          <a:lstStyle/>
          <a:p>
            <a:pPr>
              <a:defRPr sz="1400" b="1">
                <a:solidFill>
                  <a:srgbClr val="1E3A8A"/>
                </a:solidFill>
              </a:defRPr>
            </a:pPr>
            <a:r>
              <a:t>Academic &amp; Technical Citations:</a:t>
            </a:r>
          </a:p>
          <a:p>
            <a:pPr>
              <a:spcBef>
                <a:spcPts val="600"/>
              </a:spcBef>
              <a:defRPr sz="1100">
                <a:solidFill>
                  <a:srgbClr val="0F172A"/>
                </a:solidFill>
              </a:defRPr>
            </a:pPr>
            <a:r>
              <a:t>1. Bali, R. et al. (2025). 'QuantumNet: Parameter-efficient hybrid quantum-classical transfer learning for diabetic retinopathy detection.' MethodsX (Elsevier), 14, 102980.</a:t>
            </a:r>
          </a:p>
          <a:p>
            <a:pPr>
              <a:spcBef>
                <a:spcPts val="600"/>
              </a:spcBef>
              <a:defRPr sz="1100">
                <a:solidFill>
                  <a:srgbClr val="0F172A"/>
                </a:solidFill>
              </a:defRPr>
            </a:pPr>
            <a:r>
              <a:t>2. Ara, S. et al. (2025). 'Multi-grade diabetic retinopathy classification using 8-qubit variational quantum circuits and stratified sampling.' MethodsX (Elsevier), 14, 103012.</a:t>
            </a:r>
          </a:p>
          <a:p>
            <a:pPr>
              <a:spcBef>
                <a:spcPts val="600"/>
              </a:spcBef>
              <a:defRPr sz="1100">
                <a:solidFill>
                  <a:srgbClr val="0F172A"/>
                </a:solidFill>
              </a:defRPr>
            </a:pPr>
            <a:r>
              <a:t>3. Stalin Babu, C. et al. (2025). 'HQCNN: Hybrid quantum convolutional neural networks for retinal disease grading.' IEEE OTCON Proceedings, pp. 112–118.</a:t>
            </a:r>
          </a:p>
          <a:p>
            <a:pPr>
              <a:spcBef>
                <a:spcPts val="600"/>
              </a:spcBef>
              <a:defRPr sz="1100">
                <a:solidFill>
                  <a:srgbClr val="0F172A"/>
                </a:solidFill>
              </a:defRPr>
            </a:pPr>
            <a:r>
              <a:t>4. Sultana, M. &amp; Agrawal, P. (2026). 'Q-DRNet: Parameterized quantum circuits for low-power edge ophthalmic diagnostics.' IEEE Conference on Computational Intelligence, pp. 245–251.</a:t>
            </a:r>
          </a:p>
          <a:p>
            <a:pPr>
              <a:spcBef>
                <a:spcPts val="600"/>
              </a:spcBef>
              <a:defRPr sz="1100">
                <a:solidFill>
                  <a:srgbClr val="0F172A"/>
                </a:solidFill>
              </a:defRPr>
            </a:pPr>
            <a:r>
              <a:t>5. Alsubai, S. et al. (2023). 'Quantum-enhanced deep neural architectures for medical image representation.' Mathematics (MDPI), 11(14), 3120.</a:t>
            </a:r>
          </a:p>
          <a:p>
            <a:pPr>
              <a:spcBef>
                <a:spcPts val="600"/>
              </a:spcBef>
              <a:defRPr sz="1100">
                <a:solidFill>
                  <a:srgbClr val="0F172A"/>
                </a:solidFill>
              </a:defRPr>
            </a:pPr>
            <a:r>
              <a:t>6. Bergholm, V. et al. (2018). 'PennyLane: Automatic differentiation of hybrid quantum-classical computations.' arXiv:1811.04968.</a:t>
            </a:r>
          </a:p>
          <a:p>
            <a:pPr>
              <a:spcBef>
                <a:spcPts val="600"/>
              </a:spcBef>
              <a:defRPr sz="1100">
                <a:solidFill>
                  <a:srgbClr val="0F172A"/>
                </a:solidFill>
              </a:defRPr>
            </a:pPr>
            <a:r>
              <a:t>7. APTOS 2019 Blindness Detection Benchmark, Asia Pacific Tele-Ophthalmology Society, Kaggle Dataset (3,662 fundus images).</a:t>
            </a:r>
          </a:p>
          <a:p>
            <a:pPr>
              <a:spcBef>
                <a:spcPts val="600"/>
              </a:spcBef>
              <a:defRPr sz="1100">
                <a:solidFill>
                  <a:srgbClr val="0F172A"/>
                </a:solidFill>
              </a:defRPr>
            </a:pPr>
            <a:r>
              <a:t>8. Lin, T.-Y. et al. (2017). 'Focal Loss for Dense Object Detection.' IEEE Transactions on Pattern Analysis and Machine Intelligence, 42(2), 318–327.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1371600"/>
          </a:xfrm>
          <a:prstGeom prst="rect">
            <a:avLst/>
          </a:prstGeom>
          <a:noFill/>
        </p:spPr>
        <p:txBody>
          <a:bodyPr wrap="none">
            <a:spAutoFit/>
          </a:bodyPr>
          <a:lstStyle/>
          <a:p>
            <a:pPr>
              <a:defRPr sz="4400" b="1">
                <a:solidFill>
                  <a:srgbClr val="FFFFFF"/>
                </a:solidFill>
              </a:defRPr>
            </a:pPr>
            <a:r>
              <a:t>Thank You!</a:t>
            </a:r>
          </a:p>
          <a:p>
            <a:pPr>
              <a:spcBef>
                <a:spcPts val="800"/>
              </a:spcBef>
              <a:defRPr sz="2000">
                <a:solidFill>
                  <a:srgbClr val="0D9488"/>
                </a:solidFill>
              </a:defRPr>
            </a:pPr>
            <a:r>
              <a:t>Questions &amp; Answers | Defense Discussion</a:t>
            </a:r>
          </a:p>
        </p:txBody>
      </p:sp>
      <p:sp>
        <p:nvSpPr>
          <p:cNvPr id="4" name="Rounded Rectangle 3"/>
          <p:cNvSpPr/>
          <p:nvPr/>
        </p:nvSpPr>
        <p:spPr>
          <a:xfrm>
            <a:off x="1097280" y="3474720"/>
            <a:ext cx="9966960" cy="2560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657600"/>
            <a:ext cx="9418320" cy="2194560"/>
          </a:xfrm>
          <a:prstGeom prst="rect">
            <a:avLst/>
          </a:prstGeom>
          <a:noFill/>
        </p:spPr>
        <p:txBody>
          <a:bodyPr wrap="square">
            <a:spAutoFit/>
          </a:bodyPr>
          <a:lstStyle/>
          <a:p>
            <a:pPr>
              <a:defRPr sz="1400" b="1">
                <a:solidFill>
                  <a:srgbClr val="0D9488"/>
                </a:solidFill>
              </a:defRPr>
            </a:pPr>
            <a:r>
              <a:t>PROJECT REPOSITORY &amp; CONTACT DETAILS</a:t>
            </a:r>
          </a:p>
          <a:p>
            <a:pPr>
              <a:spcBef>
                <a:spcPts val="600"/>
              </a:spcBef>
              <a:defRPr sz="1300">
                <a:solidFill>
                  <a:srgbClr val="FFFFFF"/>
                </a:solidFill>
              </a:defRPr>
            </a:pPr>
            <a:r>
              <a:t>• GitHub Repository: https://github.com/hswaym/RFMid-Retinal-Classification</a:t>
            </a:r>
          </a:p>
          <a:p>
            <a:pPr>
              <a:spcBef>
                <a:spcPts val="400"/>
              </a:spcBef>
              <a:defRPr sz="1300">
                <a:solidFill>
                  <a:srgbClr val="E2E8F0"/>
                </a:solidFill>
              </a:defRPr>
            </a:pPr>
            <a:r>
              <a:t>• Project Tracking ID: ERI 5 / TY_CSE_10  |  Academic Year: 2026–2027</a:t>
            </a:r>
          </a:p>
          <a:p>
            <a:pPr>
              <a:spcBef>
                <a:spcPts val="400"/>
              </a:spcBef>
              <a:defRPr sz="1300">
                <a:solidFill>
                  <a:srgbClr val="E2E8F0"/>
                </a:solidFill>
              </a:defRPr>
            </a:pPr>
            <a:r>
              <a:t>• Verified Model Checkpoint: HQNN 4-Qubit Autoencoder (QWK: 0.7693, AUC-ROC: 0.8716)</a:t>
            </a:r>
          </a:p>
          <a:p>
            <a:pPr>
              <a:spcBef>
                <a:spcPts val="800"/>
              </a:spcBef>
              <a:defRPr sz="1200" b="1">
                <a:solidFill>
                  <a:srgbClr val="0D9488"/>
                </a:solidFill>
              </a:defRPr>
            </a:pPr>
            <a:r>
              <a:t>• We now invite questions and feedback from the review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