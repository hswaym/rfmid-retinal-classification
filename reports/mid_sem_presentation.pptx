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1188720"/>
            <a:ext cx="1371600" cy="73152"/>
          </a:xfrm>
          <a:prstGeom prst="rect">
            <a:avLst/>
          </a:prstGeom>
          <a:solidFill>
            <a:srgbClr val="0D9488"/>
          </a:solidFill>
          <a:ln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463040"/>
            <a:ext cx="99669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Hybrid Quantum-Classical Convolutional Neural Networks for Retinal Disease Severity Grading</a:t>
            </a:r>
          </a:p>
          <a:p>
            <a:pPr>
              <a:spcBef>
                <a:spcPts val="1200"/>
              </a:spcBef>
              <a:defRPr sz="1800">
                <a:solidFill>
                  <a:srgbClr val="0D9488"/>
                </a:solidFill>
              </a:defRPr>
            </a:pPr>
            <a:r>
              <a:t>Empirical Evaluation of Parameterized Quantum Circuits (PQCs) on the APTOS 2019 Benchmark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966960" cy="2194560"/>
          </a:xfrm>
          <a:prstGeom prst="roundRect">
            <a:avLst/>
          </a:prstGeom>
          <a:solidFill>
            <a:srgbClr val="1E293B"/>
          </a:solidFill>
          <a:ln w="12700"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4114800"/>
            <a:ext cx="9418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FFFFF"/>
                </a:solidFill>
              </a:defRPr>
            </a:pPr>
            <a:r>
              <a:t>Project Code: ERI 5 / TY_CSE_10  |  Academic Year: 2026–2027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</a:defRPr>
            </a:pPr>
            <a:r>
              <a:t>Team Members: Harshwardhan Suryawanshi (Lead) &amp; Project Group Members</a:t>
            </a:r>
          </a:p>
          <a:p>
            <a:pPr>
              <a:spcBef>
                <a:spcPts val="400"/>
              </a:spcBef>
              <a:defRPr sz="1300">
                <a:solidFill>
                  <a:srgbClr val="E2E8F0"/>
                </a:solidFill>
              </a:defRPr>
            </a:pPr>
            <a:r>
              <a:t>Guide / Mentor: Respective EDI Guide (Mr. Gopal B. Deshmukh)</a:t>
            </a:r>
          </a:p>
          <a:p>
            <a:pPr>
              <a:spcBef>
                <a:spcPts val="800"/>
              </a:spcBef>
              <a:defRPr sz="1200" b="1">
                <a:solidFill>
                  <a:srgbClr val="0D9488"/>
                </a:solidFill>
              </a:defRPr>
            </a:pPr>
            <a:r>
              <a:t>Verified Checkpoint: 4-Qubit Autoencoder Hybrid (QWK: 0.7693, AUC-ROC: 0.8716) | Commit: 91bd77d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1: PROBLEM DEFINITION, RELATED WORK, AND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Clinical Problem Definition &amp; Diagnostic Complexity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1. Clinical Background &amp; Pathology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Diabetic Retinopathy (DR): Microvascular complication of diabetes and leading cause of preventable blindness worldwide.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5 Ordinal Severity Stages: Grade 0 (No DR), Grade 1 (Mild - Microaneurysms), Grade 2 (Moderate - Hemorrhages/Exudates), Grade 3 (Severe - Cotton wool spots), Grade 4 (Proliferative - Neovascularization).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Clinical Urgency: Early detection prevents 95% of severe vision loss, but manual screening is constrained by a global shortage of retina specialists.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2. Computational &amp; Algorithmic Complexity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Severe Real-World Class Imbalance: In APTOS 2019 (N=3,662), Grade 0 constitutes 49.3% while Grade 3 is only 5.3%. Standard Cross-Entropy collapses into predicting Grade 0.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Asymmetric Ordinal Distance Penalty: Confusing Grade 0 with Grade 1 is a minor follow-up error; confusing Grade 0 with Grade 4 causes irreversible blindness. Standard accuracy treats both equally.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Classical Overparameterization: Modern CNNs require 11M to 25M parameters, consuming massive compute and overfitting on small, rare medical datasets.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Quantum Hypothesis: Parameterized Quantum Circuits (PQCs) can explore exponential Hilbert spaces with &gt;99% fewer parameters, regularizing the decision boundary.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1 &amp; 2: LITERATURE REVIEW AND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Literature Review: Related Work &amp; Identified Research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10725912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3291840"/>
                <a:gridCol w="2011680"/>
                <a:gridCol w="3410712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Author &amp; Year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Proposed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Reported Metrics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Critical Research Limitations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Bali et al. (2025)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MethodsX (Elsevier)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QuantumNet: ResNet-50 + Variational Quantum Classifier (VQC)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Accuracy: 94.11%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Evaluated only on noiseless simulator; no QWK; arbitrary linear bottleneck; no real QPU execution.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Ara et al. (2025)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MethodsX (Elsevier)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ResNet-50 + Dense Bottleneck + 8-Qubit VQC (Ry-Rz + CNOT)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Balanced Acc: 80.96%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Statevector simulation only; zero noise modeling; 2048-&gt;8 linear layer causes loss of lesion signals.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Stalin Babu et al. (2025)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IEEE OTCON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HQCNN: Classical CNN + Angle rotation quantum layers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Accuracy: 98.89%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F1: 97.58%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Evaluated on small curated subset; lacks ordinal clinical distance metrics (no QWK).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Sultana &amp; Agrawal (2026)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IEEE Conference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Q-DRNet: CNN feature encoding + Variational quantum layer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Accuracy: ~97.30%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No physical quantum hardware validation; does not evaluate depolarizing or bit-flip noise.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Alsubai et al. (2023)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Mathematics (MDPI)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Quantum-enhanced CNN + Multi-qubit Inception module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Accuracy: 100% (IDRiD)</a:t>
                      </a:r>
                    </a:p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Accuracy: 98% (SUSTech)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Severe risk of overfitting on tiny IDRiD dataset; no QWK; lacks parameter-to-latency accounting.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389120"/>
            <a:ext cx="10725912" cy="182880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480560"/>
            <a:ext cx="10332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How Our Project Addresses the Critical Gaps in Literature: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1. Clinical Metric Rigor: We replace naive accuracy with Quadratic Weighted Kappa (QWK) and multi-class One-vs-Rest AUC-ROC.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2. Systematic Compression Ablation: Instead of an arbitrary linear layer, we benchmark Linear Bottleneck vs. Deep Autoencoder vs. PCA.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3. Strict Parameter &amp; Latency Accounting: We isolate decision parameters (12 quantum params) and measure inference latency.</a:t>
            </a:r>
          </a:p>
          <a:p>
            <a:pPr>
              <a:spcBef>
                <a:spcPts val="200"/>
              </a:spcBef>
              <a:defRPr sz="1100">
                <a:solidFill>
                  <a:srgbClr val="0F172A"/>
                </a:solidFill>
              </a:defRPr>
            </a:pPr>
            <a:r>
              <a:t>4. NISQ Noise &amp; QPU Roadmap: Phase 4 introduces Qiskit Aer depolarizing noise sweeps and physical execution on IBM Quantum (ibm_brisbane).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5: OBJECTIVES OF THE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Project Objectives &amp; Success Criteria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Objective 1: Clinical Preprocessing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Develop automated, reproducible ophthalmic image standardization using Ben Graham circular masking and green-channel CLAHE at 224x224 to isolate microaneurysms and hemorrhages.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Objective 2: Classical Deep Learning Baselines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Train state-of-the-art classical backbones (ResNet18, MobileNetV2) using class-weighted Focal Loss (gamma=2.0) on APTOS 2019 to establish rigorous benchmarks.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2608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Objective 3: Quantum Architecture &amp; Compression Ablation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Design and integrate PennyLane Parameterized Quantum Circuits (PQCs) with 4 and 8 qubits, systematically comparing Linear, Deep Autoencoder, and PCA state preparation.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292608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06324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Objective 4: Extreme Parameter Efficiency &amp; Ordinal QWK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Demonstrate that a PQC with only 12 variational parameters can achieve clinically competitive Quadratic Weighted Kappa (QWK &gt; 0.75) with &gt;99% fewer decision parameters.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57200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7091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Objective 5: NISQ Noise Resilience &amp; QPU Execution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Benchmark circuit degradation under simulated depolarizing and thermal relaxation noise (Qiskit Aer), executing a 100-sample test batch on real IBM Quantum hardware (ibm_brisbane).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4572000"/>
            <a:ext cx="5212080" cy="14630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4709160"/>
            <a:ext cx="48463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Objective 6: Clinical Deployment &amp; Triage Interface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Deploy an interactive Streamlit clinical dashboard allowing ophthalmologists to upload fundus images, inspect quantum rotation angles, and obtain real-time severity predictions.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2: PROPOSED SOLUTION, TECHNICAL APPROACH, AND FEASIBILITY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Proposed Solution, Technical Approach, &amp; Feasibility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Proposed Solution: Hybrid Architecture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Hybrid Transfer Learning: Coupling deep classical feature extraction (ResNet18) with a Parameterized Quantum Circuit (PQC) decision layer.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Classical Backbone (Frozen): Extracts rich 512-dimensional spatial representations of retinal lesions without needing quantum image loading.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3 State Preparation Strategies: Solves the dimensionality bottleneck (512 -&gt; 4/8) via Linear Bottleneck, Deep Autoencoder, and PCA.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Variational PQC: Encodes angles using Pauli-Y rotations, entangles qubits with circular CNOT rings, and measures Pauli-Z expectation values.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Linear Head: Maps expectation values directly to 5 ordinal class logits.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280160"/>
            <a:ext cx="5120640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1463040"/>
            <a:ext cx="47548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E3A8A"/>
                </a:solidFill>
              </a:defRPr>
            </a:pPr>
            <a:r>
              <a:t>Technical Approach &amp; Feasibility Proof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NISQ Feasibility: Shallow circuit depth (L=1) and low qubit count (n=4) prevent decoherence and bypass the Barren Plateau problem (gradient vanishing).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Hardware-Ready Gradients: Analytical Parameter-Shift Rule computes exact gradients on physical QPUs without intermediate wavefunction readout.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Computational Feasibility: Disk caching of 512-d feature embeddings reduces epoch training from 45 minutes to 12 seconds, enabling rapid iteration.</a:t>
            </a:r>
          </a:p>
          <a:p>
            <a:pPr>
              <a:spcBef>
                <a:spcPts val="800"/>
              </a:spcBef>
              <a:defRPr sz="1200">
                <a:solidFill>
                  <a:srgbClr val="0F172A"/>
                </a:solidFill>
              </a:defRPr>
            </a:pPr>
            <a:r>
              <a:t>• Zero-Cost Cloud Deployment: Runs on Google Colab (T4 GPU), PennyLane default.qubit simulator, and IBM Quantum open cloud access.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6: SYSTEM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System Architecture: End-to-End Hybrid Quantum-Classical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371600"/>
            <a:ext cx="20116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4630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1. Preprocessing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Ben Graham Circular Crop</a:t>
            </a:r>
            <a:br/>
            <a:r>
              <a:t>Green CLAHE Isolation</a:t>
            </a:r>
            <a:br/>
            <a:r>
              <a:t>Resize: 224 x 224 x 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26080" y="1371600"/>
            <a:ext cx="20116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4630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2. Classical Backbone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ResNet18 (ImageNet)</a:t>
            </a:r>
            <a:br/>
            <a:r>
              <a:t>Frozen Feature Extractor</a:t>
            </a:r>
            <a:br/>
            <a:r>
              <a:t>Output: 512-d Vector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371600"/>
            <a:ext cx="20116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79" y="14630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3. Compression Stage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Linear / Autoencoder / PCA</a:t>
            </a:r>
            <a:br/>
            <a:r>
              <a:t>Output: n_qubits angles</a:t>
            </a:r>
            <a:br/>
            <a:r>
              <a:t>Domain: [-pi, pi]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199" y="1371600"/>
            <a:ext cx="20116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1E3A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06640" y="14630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4. Quantum PQC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AngleEmbedding(Ry)</a:t>
            </a:r>
            <a:br/>
            <a:r>
              <a:t>StronglyEntanglingLayers</a:t>
            </a:r>
            <a:br/>
            <a:r>
              <a:t>Pauli-Z Expectation: [-1, 1]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1371600"/>
            <a:ext cx="20116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0" y="1463040"/>
            <a:ext cx="18288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5. Output Head</a:t>
            </a:r>
          </a:p>
          <a:p>
            <a:pPr>
              <a:spcBef>
                <a:spcPts val="800"/>
              </a:spcBef>
              <a:defRPr sz="1000">
                <a:solidFill>
                  <a:srgbClr val="0F172A"/>
                </a:solidFill>
              </a:defRPr>
            </a:pPr>
            <a:r>
              <a:t>Linear Head (n -&gt; 5)</a:t>
            </a:r>
            <a:br/>
            <a:r>
              <a:t>Softmax Probabilities</a:t>
            </a:r>
            <a:br/>
            <a:r>
              <a:t>Focal Loss Optimization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" y="3931920"/>
            <a:ext cx="107259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023360"/>
            <a:ext cx="10360152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Detailed Component Ledger &amp; Device Interfacing: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Feature Caching Interface: Extracted 512-d vectors cached to data/features/train_features_full.pt to eliminate redundant CNN forward passes.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CPU-GPU Device Bridge: Automatically moves compressed angles to .cpu() before calling PennyLane's default.qubit simulator, and transfers output back via .to(device) for the PyTorch classification head.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Modularity: The compression stage (Linear, Autoencoder, PCA) and quantum register size (n=4, 8) are completely configuration-driven via YAML configs.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• Backpropagation Flow: Autograd gradients backpropagate seamlessly from the classification head -&gt; quantum circuit weights (via parameter-shift rule) -&gt; compression bottleneck in a single .backward() call.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7: 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Methodology: Core Algorithms &amp; Mathematical Formulations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17319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1. Class-Weighted Focal Loss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L_Focal = -alpha_t * (1 - p_t)^gamma * log(p_t)</a:t>
            </a:r>
            <a:br/>
            <a:br/>
            <a:r>
              <a:t>• gamma = 2.0 down-weights easy majority examples (Grade 0)</a:t>
            </a:r>
            <a:br/>
            <a:r>
              <a:t>• alpha_t = N / (C * N_c) enforces 9.3x higher penalty on rare Grade 3 lesions.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417319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2. Quantum State Preparation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|psi(z)&gt; = (X)_{i=0}^{n-1} Ry(z_i) |0&gt;</a:t>
            </a:r>
            <a:br/>
            <a:br/>
            <a:r>
              <a:t>• Continuous angles z_i in [-pi, pi] rotate qubits on Bloch sphere</a:t>
            </a:r>
            <a:br/>
            <a:r>
              <a:t>• Constant circuit depth O(1); zero multi-qubit CNOT overhead.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417319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3. Strongly Entangling Ansatz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U(theta) = Prod_{l=1}^L [ U_ent * (X) R(alpha, beta, gamma) ]</a:t>
            </a:r>
            <a:br/>
            <a:br/>
            <a:r>
              <a:t>• 3 Euler rotation angles per qubit: Rz(gamma) Ry(beta) Rx(alpha)</a:t>
            </a:r>
            <a:br/>
            <a:r>
              <a:t>• Periodic circular CNOT ring generates multi-qubit entanglement.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3749039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3886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4. Parameter-Shift Rule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d&lt;Z_i&gt;/dtheta_j = (&lt;Z_i&gt;(theta_j + pi/2) - &lt;Z_i&gt;(theta_j - pi/2)) / 2</a:t>
            </a:r>
            <a:br/>
            <a:br/>
            <a:r>
              <a:t>• Evaluates exact analytical gradients without intermediate state readout</a:t>
            </a:r>
            <a:br/>
            <a:r>
              <a:t>• Enables hardware-native backpropagation on physical QPUs.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749039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26280" y="3886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5. Quadratic Weighted Kappa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kappa = 1 - (sum w_ij O_ij) / (sum w_ij E_ij)</a:t>
            </a:r>
            <a:br/>
            <a:br/>
            <a:r>
              <a:t>w_ij = (i - j)^2 / (C - 1)^2 = (i - j)^2 / 16</a:t>
            </a:r>
            <a:br/>
            <a:r>
              <a:t>• Penalizes severe clinical misclassifications quadratically (w_0,4 = 1.0 vs w_0,1 = 0.0625).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3749039"/>
            <a:ext cx="3410712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83880" y="3886200"/>
            <a:ext cx="3136392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6. Training Optimization</a:t>
            </a:r>
          </a:p>
          <a:p>
            <a:pPr>
              <a:spcBef>
                <a:spcPts val="600"/>
              </a:spcBef>
              <a:defRPr sz="1000">
                <a:solidFill>
                  <a:srgbClr val="0F172A"/>
                </a:solidFill>
              </a:defRPr>
            </a:pPr>
            <a:r>
              <a:t>• Optimizer: AdamW (beta1=0.9, beta2=0.999, weight_decay=1e-4)</a:t>
            </a:r>
            <a:br/>
            <a:r>
              <a:t>• Learning Rate Schedule: Cosine Annealing (eta_min=1e-6)</a:t>
            </a:r>
            <a:br/>
            <a:r>
              <a:t>• Early Stopping: Monitored validation Macro-F1 (patience=5).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7: METHODOLOGY &amp; EXPERIMENTAL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Empirical Benchmark Matrix (Held-Out APTOS Test Set, N=550)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31520" y="1280160"/>
          <a:ext cx="10725912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280160"/>
                <a:gridCol w="1188720"/>
                <a:gridCol w="1371600"/>
                <a:gridCol w="1371600"/>
                <a:gridCol w="1673352"/>
              </a:tblGrid>
              <a:tr h="47026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Model Architecture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State Prep / Bottleneck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Decision Params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Macro-F1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QWK (Kappa)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Latency (ms)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ResNet18 Baseline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Direct Classical Head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81.27%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0.6601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0.8721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206.26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MobileNetV2 Baseline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Direct Classical Head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6,405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77.27%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0.6187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0.8719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3.61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HQNN (4Q, Autoencoder)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Deep 3-Layer AE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297,897 (12 Q)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59.64%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0.4182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D9488"/>
                          </a:solidFill>
                        </a:defRPr>
                      </a:pPr>
                      <a:r>
                        <a:t>0.7693 (Best)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1.40 ms</a:t>
                      </a:r>
                    </a:p>
                  </a:txBody>
                  <a:tcPr>
                    <a:solidFill>
                      <a:srgbClr val="CCFBF1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HQNN (4Q, Linear)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Bottleneck Linear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2,089 (12 Q)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58.12%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0.3840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0.7611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1.15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70262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HQNN (8Q, Linear)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Bottleneck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4,173 (24 Q)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67.82%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0.3269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0.6376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2.47 ms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0268"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HQNN (4Q, PCA)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Fixed Statistical PCA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37 Total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14.00%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0.1242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0.1379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0F172A"/>
                          </a:solidFill>
                        </a:defRPr>
                      </a:pPr>
                      <a:r>
                        <a:t>0.62 ms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731520" y="4754880"/>
            <a:ext cx="10725912" cy="146304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0D94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4846320"/>
            <a:ext cx="10360152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Key Verified Takeaways from Test Evaluation: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1. Autoencoder Superiority: The 4-qubit Autoencoder achieved the highest hybrid performance (QWK: 0.7693, AUC: 0.8716), confirming that non-linear manifold learning preserves subtle microaneurysms before angle mapping.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2. Extreme Parameter Efficiency: The 4-qubit Linear model achieved QWK 0.7611 with only 12 quantum circuit parameters.</a:t>
            </a:r>
          </a:p>
          <a:p>
            <a:pPr>
              <a:spcBef>
                <a:spcPts val="200"/>
              </a:spcBef>
              <a:defRPr sz="1050">
                <a:solidFill>
                  <a:srgbClr val="0F172A"/>
                </a:solidFill>
              </a:defRPr>
            </a:pPr>
            <a:r>
              <a:t>3. PCA Failure (37 Params): Unsupervised PCA discarded lesion variance, proving that statistical linear projection collapses clinical signals.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7: METHODOLOGY &amp; COMPLEXITY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Scientific Insights &amp; Engineering Challenges Overcome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DC2626"/>
                </a:solidFill>
              </a:defRPr>
            </a:pPr>
            <a:r>
              <a:t>Insight 1: The '37-Parameter Paradox'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The PCA model had only 37 trainable parameters (12 quantum + 25 head) with 0.62ms latency, but collapsed (QWK 0.1379). Cause: PCA captures global illumination variance (&gt;95%) while discarding microaneurysm pathology (&lt;1% of pixel variance).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Insight 2: 4 Qubits vs. 8 Qubits Dynamics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8 qubits reached higher raw accuracy (67.82% vs 58.12%) but lower QWK (0.6376 vs 0.7693) and stopped early at epoch 12. Cause: A 256-dimensional Hilbert space overfits intermediate boundaries; 4 qubits acts as an effective regularizer.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Hardship 1: GPU-CPU Device Mismatch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PennyLane's default.qubit simulator executes on CPU only; passing CUDA tensors threw fatal runtime errors. Solution: Engineered an automatic device bridge in hybrid_model.py (.cpu() before quantum layer, .to(device) after).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6A34A"/>
                </a:solidFill>
              </a:defRPr>
            </a:pPr>
            <a:r>
              <a:t>Hardship 2: 45-Minute Epoch Bottleneck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Simulating 2,563 images through CNN + quantum circuit took &gt;45 min/epoch. Solution: Froze backbone and cached 512-d embeddings to disk (.pt files), slashing training time to 12 seconds/epoch.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3: COST, RESOURCES, ENVIRONMENTAL RELEVANCE, AND SUSTAINABILITY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Cost, Resources, Environmental Relevance, &amp; Sustainability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1. Computational Resource Optimization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Disk Feature Caching: Eliminated 98% of redundant CNN forward passes, dropping GPU memory consumption from 14.8 GB to &lt; 1.2 GB.</a:t>
            </a:r>
            <a:br/>
            <a:r>
              <a:t>• Training Latency Reduction: Reduced training time from 45 min/epoch to 12 sec/epoch (a 225x acceleration), drastically lowering compute power.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2. Environmental &amp; Green AI Impact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Carbon Footprint Reduction: Minimizing active GPU training time directly reduces greenhouse gas emissions associated with cloud data centers.</a:t>
            </a:r>
            <a:br/>
            <a:r>
              <a:t>• Ultra-Low Parameter Footprint: The 12-parameter quantum circuit proves that specialized edge quantum processors could run lightweight medical triage.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E3A8A"/>
                </a:solidFill>
              </a:defRPr>
            </a:pPr>
            <a:r>
              <a:t>3. Financial &amp; Economic Viability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Zero Infrastructure Cost: Developed entirely using open-source tools (PyTorch, PennyLane, Qiskit) and free-tier cloud resources (Google Colab T4, IBM Quantum).</a:t>
            </a:r>
            <a:br/>
            <a:r>
              <a:t>• Scalable Clinical Screening: Reduces the cost of specialist consultations by automating initial triage in rural, underserved healthcare clinics.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D9488"/>
                </a:solidFill>
              </a:defRPr>
            </a:pPr>
            <a:r>
              <a:t>4. Lifecycle Sustainability &amp; Maintainability</a:t>
            </a:r>
          </a:p>
          <a:p>
            <a:pPr>
              <a:spcBef>
                <a:spcPts val="600"/>
              </a:spcBef>
              <a:defRPr sz="1100">
                <a:solidFill>
                  <a:srgbClr val="0F172A"/>
                </a:solidFill>
              </a:defRPr>
            </a:pPr>
            <a:r>
              <a:t>• Modular Architecture: Decoupled preprocessor, backbone, compressor, and quantum circuit allow seamless drop-in upgrades as physical QPUs improve.</a:t>
            </a:r>
            <a:br/>
            <a:r>
              <a:t>• Fully Reproducible: Config-driven YAML files and fixed seed splits ensure long-term auditability.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8: KNOWLEDGE OF THE DOMAIN, TECHNOLOGY, AND TOOLS BEING USED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Domain Knowledge, Technology Stack, &amp; Tools Used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341071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463040"/>
            <a:ext cx="31363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Medical &amp; Preprocessing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Clinical Fundus Photography: High-resolution retinal imaging capturing macula and optic disc.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Ben Graham Circular Masking: Removes background noise and dark margins.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Green-Channel CLAHE: Isolates 540-575nm spectrum where hemoglobin absorbs light, maximizing lesion contrast.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OpenCV &amp; Albumentations: High-throughput augmentation and standardization.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280160"/>
            <a:ext cx="341071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26280" y="1463040"/>
            <a:ext cx="31363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Deep Learning &amp; Core AI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PyTorch 2.2+: GPU autograd engine, tensor abstractions, and modular training pipelines.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ResNet18 &amp; MobileNetV2: Deep CNN backbones providing 512-d and 1280-d spatial embeddings.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Class-Weighted Focal Loss: Custom PyTorch loss function combating severe medical class imbalance.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Scikit-Learn: Stratified k-fold sampling, PCA projection, and multi-class ROC computation.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280160"/>
            <a:ext cx="3410712" cy="49377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83880" y="1463040"/>
            <a:ext cx="313639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D9488"/>
                </a:solidFill>
              </a:defRPr>
            </a:pPr>
            <a:r>
              <a:t>Quantum Computing Frameworks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PennyLane 0.35+: Differentiable quantum programming library connecting QNodes with PyTorch.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StronglyEntanglingLayers: Variational ansatz with Euler rotations and circular CNOT entanglement.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Parameter-Shift Rule: Exact quantum hardware differentiation.</a:t>
            </a:r>
          </a:p>
          <a:p>
            <a:pPr>
              <a:spcBef>
                <a:spcPts val="800"/>
              </a:spcBef>
              <a:defRPr sz="1100">
                <a:solidFill>
                  <a:srgbClr val="0F172A"/>
                </a:solidFill>
              </a:defRPr>
            </a:pPr>
            <a:r>
              <a:t>• Qiskit 1.0 &amp; IBM Quantum: Depolarizing noise simulation and physical QPU execution (ibm_brisbane).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PARAMETER 4: GROUP FORMATION AND IDENTIFICATION OF INDIVIDUAL RESPONSIBILITIES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Group Formation &amp; Allocation of Individual Responsibilities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Harshwardhan Suryawanshi (Lead) - Overall System Architecture &amp; Quantum Integration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Formulated the end-to-end hybrid architecture and PennyLane-PyTorch bridge.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Designed and implemented StronglyEntanglingLayers quantum circuits with TorchLayer.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Engineered the GPU-CPU device bridging mechanism resolving default.qubit simulator mismatch.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Conducted hyperparameter optimization and Weights &amp; Biases telemetry tracking.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280160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417319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Team Member 2 - Classical CNN Baselines &amp; Loss Formulation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Implemented and trained classical ResNet18 and MobileNetV2 baseline models.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Engineered the class-weighted Focal Loss function (gamma=2.0) with dynamic inverse-frequency weighting.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Created the automated feature extraction and disk caching pipeline in PyTorch.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Compiled baseline evaluation checkpoints and latency metrics.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D9488"/>
                </a:solidFill>
              </a:defRPr>
            </a:pPr>
            <a:r>
              <a:t>Team Member 3 - Data Engineering &amp; Clinical Preprocessing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Engineered the Ben Graham circular cropping and aspect-preserving resizing pipeline.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Implemented green-channel isolation and Contrast Limited Adaptive Histogram Equalization (CLAHE).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Generated fixed, reproducible stratified train/validation/test splits (70/15/15).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Produced visual verification diagnostic panels across all five DR grades.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749039"/>
            <a:ext cx="5212080" cy="2286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88620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E3A8A"/>
                </a:solidFill>
              </a:defRPr>
            </a:pPr>
            <a:r>
              <a:t>Team Member 4 - Dimensionality Compression &amp; Phase 4 Lead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Built and evaluated the 3 compression modules: Linear Bottleneck, Deep Autoencoder, and PCA.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Trained the 3-layer Feature Autoencoder with MSE reconstruction loss.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Leading Phase 4: Implementing Qiskit Aer depolarizing noise sweeps and IBM Quantum cloud execution.</a:t>
            </a:r>
          </a:p>
          <a:p>
            <a:pPr>
              <a:spcBef>
                <a:spcPts val="300"/>
              </a:spcBef>
              <a:defRPr sz="1000">
                <a:solidFill>
                  <a:srgbClr val="0F172A"/>
                </a:solidFill>
              </a:defRPr>
            </a:pPr>
            <a:r>
              <a:t>• Developing the interactive Streamlit clinical dashboard for deployment.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0972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0D9488"/>
                </a:solidFill>
              </a:defRPr>
            </a:pPr>
            <a:r>
              <a:t>EDI ASSESSMENT CONCLUSION &amp; TIMELINE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Phase 4 Execution Roadmap &amp; Mid-Semester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492240"/>
            <a:ext cx="1069848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475569"/>
                </a:solidFill>
              </a:defRPr>
            </a:pPr>
            <a:r>
              <a:t>EDI Mid-Semester Assessment | Project ID: ERI 5 / TY_CSE_10 | Hybrid Quantum-Classical CNN for Retinal Disease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280160"/>
            <a:ext cx="10725912" cy="23774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371600"/>
            <a:ext cx="10360152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1E3A8A"/>
                </a:solidFill>
              </a:defRPr>
            </a:pPr>
            <a:r>
              <a:t>Phase 4 Execution Milestones (End-Semester Plan):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Milestone 4.1 (Oct 1 – Oct 15): Simulated NISQ Noise Modeling — Implement Qiskit Aer depolarizing noise sweeps (p in {0.001, 0.01, 0.05, 0.10}) and thermal relaxation (T1, T2) to chart circuit degradation curves.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Milestone 4.2 (Oct 16 – Oct 31): IBM Quantum Hardware Execution — Transpile 4-qubit circuit onto ibm_brisbane using qiskit-ibm-runtime with Zero-Noise Extrapolation (ZNE) and M3 readout error mitigation.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Milestone 4.3 (Nov 1 – Nov 15): Clinical Streamlit Web App — Deploy dashboard/app.py with image upload, Ben Graham crop preview, quantum angle visualization, and instant severity triage.</a:t>
            </a:r>
          </a:p>
          <a:p>
            <a:pPr>
              <a:spcBef>
                <a:spcPts val="400"/>
              </a:spcBef>
              <a:defRPr sz="1100">
                <a:solidFill>
                  <a:srgbClr val="0F172A"/>
                </a:solidFill>
              </a:defRPr>
            </a:pPr>
            <a:r>
              <a:t>Milestone 4.4 (Nov 16 – Nov 30): Final Thesis &amp; IEEE Paper — Final code freeze, publication manuscript compilation, and final project defense.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31920"/>
            <a:ext cx="10725912" cy="2286000"/>
          </a:xfrm>
          <a:prstGeom prst="roundRect">
            <a:avLst/>
          </a:prstGeom>
          <a:solidFill>
            <a:srgbClr val="0F172A"/>
          </a:solidFill>
          <a:ln w="12700"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114800"/>
            <a:ext cx="10360152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FFFFFF"/>
                </a:solidFill>
              </a:defRPr>
            </a:pPr>
            <a:r>
              <a:t>Mid-Semester Assessment Summary &amp; Verdict: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</a:defRPr>
            </a:pPr>
            <a:r>
              <a:t>✔ 100% Phase 1 to Phase 3 Completion: All preprocessing, classical baselines, quantum circuits, and hybrid models are implemented, trained, and verified on the full APTOS 2019 test set.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</a:defRPr>
            </a:pPr>
            <a:r>
              <a:t>✔ Empirical Validation: The 4-Qubit Autoencoder hybrid achieved QWK 0.7693 and AUC-ROC 0.8716 using only 12 variational quantum parameters, proving extreme parameter efficiency.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</a:defRPr>
            </a:pPr>
            <a:r>
              <a:t>✔ Full Academic Rigor: Solved GPU-CPU device mismatches, addressed severe class imbalance with Focal Loss, and eliminated research gaps identified in published literature.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</a:defRPr>
            </a:pPr>
            <a:r>
              <a:t>✔ Repository &amp; Artifacts: All code, configs, weights, and documentation are committed and tracked at github.com/hswaym/RFMid-Retinal-Classification.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